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Noto Sans KR"/>
      <p:regular r:id="rId26"/>
      <p:bold r:id="rId27"/>
    </p:embeddedFont>
    <p:embeddedFont>
      <p:font typeface="Do Hyeon"/>
      <p:regular r:id="rId28"/>
    </p:embeddedFont>
    <p:embeddedFont>
      <p:font typeface="Noto Sans TC"/>
      <p:regular r:id="rId29"/>
      <p:bold r:id="rId30"/>
    </p:embeddedFont>
    <p:embeddedFont>
      <p:font typeface="Black Han Sans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otoSansKR-regular.fntdata"/><Relationship Id="rId25" Type="http://schemas.openxmlformats.org/officeDocument/2006/relationships/slide" Target="slides/slide20.xml"/><Relationship Id="rId28" Type="http://schemas.openxmlformats.org/officeDocument/2006/relationships/font" Target="fonts/DoHyeon-regular.fntdata"/><Relationship Id="rId27" Type="http://schemas.openxmlformats.org/officeDocument/2006/relationships/font" Target="fonts/NotoSansK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otoSansTC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lackHanSans-regular.fntdata"/><Relationship Id="rId30" Type="http://schemas.openxmlformats.org/officeDocument/2006/relationships/font" Target="fonts/NotoSansTC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cff209d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cff209d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cff209d3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cff209d3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cff209d3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cff209d3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cff209d3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cff209d3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eab1ca8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eab1ca8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cff209d37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7cff209d37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cff209d37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7cff209d37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cff209d37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7cff209d37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cff209d37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cff209d37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cff209d37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cff209d37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cff209d37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cff209d37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cff209d37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7cff209d37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cdf7a07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6cdf7a07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cdf7a073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6cdf7a073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6cdf7a073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6cdf7a073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cdf7a073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6cdf7a073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cdf7a073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6cdf7a073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6cdf7a073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6cdf7a073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cdfb30e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6cdfb30e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7cff209d37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7cff209d37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Relationship Id="rId7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hyperlink" Target="https://fto.vercel.app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hyperlink" Target="https://discord.gg/yzhU9NHJ" TargetMode="External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229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1095475" y="1056937"/>
            <a:ext cx="6875400" cy="3369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287797" y="-14424"/>
            <a:ext cx="82260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</a:t>
            </a:r>
            <a:r>
              <a:rPr b="1" lang="en" sz="3000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安</a:t>
            </a:r>
            <a:r>
              <a:rPr lang="en" sz="30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                </a:t>
            </a:r>
            <a:r>
              <a:rPr b="1" lang="en" sz="3000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心</a:t>
            </a:r>
            <a:r>
              <a:rPr lang="en" sz="141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 </a:t>
            </a:r>
            <a:endParaRPr sz="14100">
              <a:solidFill>
                <a:srgbClr val="000000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458975" y="3157258"/>
            <a:ext cx="82260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Disaster safety that puts people first</a:t>
            </a:r>
            <a:endParaRPr sz="4000">
              <a:solidFill>
                <a:srgbClr val="000000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35225" y="562325"/>
            <a:ext cx="154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oto Sans KR"/>
                <a:ea typeface="Noto Sans KR"/>
                <a:cs typeface="Noto Sans KR"/>
                <a:sym typeface="Noto Sans KR"/>
              </a:rPr>
              <a:t>Code for Korea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6299075" y="562325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0" name="Google Shape;60;p13"/>
          <p:cNvCxnSpPr>
            <a:stCxn id="58" idx="3"/>
            <a:endCxn id="61" idx="1"/>
          </p:cNvCxnSpPr>
          <p:nvPr/>
        </p:nvCxnSpPr>
        <p:spPr>
          <a:xfrm>
            <a:off x="2075425" y="762425"/>
            <a:ext cx="4334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 txBox="1"/>
          <p:nvPr/>
        </p:nvSpPr>
        <p:spPr>
          <a:xfrm>
            <a:off x="6409950" y="562325"/>
            <a:ext cx="217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2025</a:t>
            </a:r>
            <a:endParaRPr/>
          </a:p>
        </p:txBody>
      </p:sp>
      <p:sp>
        <p:nvSpPr>
          <p:cNvPr id="62" name="Google Shape;62;p13"/>
          <p:cNvSpPr txBox="1"/>
          <p:nvPr>
            <p:ph type="ctrTitle"/>
          </p:nvPr>
        </p:nvSpPr>
        <p:spPr>
          <a:xfrm>
            <a:off x="170130" y="1388267"/>
            <a:ext cx="87261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rgbClr val="0000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p-ANSIM</a:t>
            </a:r>
            <a:endParaRPr sz="12000">
              <a:solidFill>
                <a:srgbClr val="000000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408335" y="1058909"/>
            <a:ext cx="1138500" cy="498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2012</a:t>
            </a:r>
            <a:endParaRPr sz="24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11700" y="278342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History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-41725" y="1775580"/>
            <a:ext cx="9306300" cy="0"/>
          </a:xfrm>
          <a:prstGeom prst="straightConnector1">
            <a:avLst/>
          </a:prstGeom>
          <a:noFill/>
          <a:ln cap="flat" cmpd="sng" w="19050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4"/>
          <p:cNvSpPr/>
          <p:nvPr/>
        </p:nvSpPr>
        <p:spPr>
          <a:xfrm rot="2700000">
            <a:off x="466945" y="1634088"/>
            <a:ext cx="282984" cy="282984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 rot="2700000">
            <a:off x="6919045" y="1634088"/>
            <a:ext cx="282984" cy="282984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 rot="2700000">
            <a:off x="4768345" y="1634088"/>
            <a:ext cx="282984" cy="282984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 rot="2700000">
            <a:off x="2617645" y="1634088"/>
            <a:ext cx="282984" cy="282984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08325" y="2072207"/>
            <a:ext cx="19287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코드나무 첫 해커톤에서 “안심병원” 프로토타입 제작</a:t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408325" y="1544730"/>
            <a:ext cx="4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lack Han Sans"/>
                <a:ea typeface="Black Han Sans"/>
                <a:cs typeface="Black Han Sans"/>
                <a:sym typeface="Black Han Sans"/>
              </a:rPr>
              <a:t>1</a:t>
            </a:r>
            <a:endParaRPr sz="18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2559025" y="1544730"/>
            <a:ext cx="4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lack Han Sans"/>
                <a:ea typeface="Black Han Sans"/>
                <a:cs typeface="Black Han Sans"/>
                <a:sym typeface="Black Han Sans"/>
              </a:rPr>
              <a:t>2</a:t>
            </a:r>
            <a:endParaRPr sz="18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4709725" y="1544730"/>
            <a:ext cx="4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lack Han Sans"/>
                <a:ea typeface="Black Han Sans"/>
                <a:cs typeface="Black Han Sans"/>
                <a:sym typeface="Black Han Sans"/>
              </a:rPr>
              <a:t>3</a:t>
            </a:r>
            <a:endParaRPr sz="18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78" name="Google Shape;78;p14"/>
          <p:cNvSpPr txBox="1"/>
          <p:nvPr>
            <p:ph idx="1" type="body"/>
          </p:nvPr>
        </p:nvSpPr>
        <p:spPr>
          <a:xfrm>
            <a:off x="2559033" y="2072207"/>
            <a:ext cx="18345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정보 추가 후 “안심이”로 이름 변경</a:t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4709735" y="1058909"/>
            <a:ext cx="1138500" cy="498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2014</a:t>
            </a:r>
            <a:endParaRPr sz="24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4709716" y="2072207"/>
            <a:ext cx="18345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건강보험심사평가원 데이터 크롤링해서 지도 서비스에 반영</a:t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6860435" y="1058909"/>
            <a:ext cx="1138500" cy="498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2024-</a:t>
            </a:r>
            <a:endParaRPr sz="24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6860425" y="2072207"/>
            <a:ext cx="1834500" cy="1625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코드포코리아의 프로젝트로 다시 시작</a:t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6860425" y="1544730"/>
            <a:ext cx="4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Black Han Sans"/>
                <a:ea typeface="Black Han Sans"/>
                <a:cs typeface="Black Han Sans"/>
                <a:sym typeface="Black Han Sans"/>
              </a:rPr>
              <a:t>4</a:t>
            </a:r>
            <a:endParaRPr sz="18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84" name="Google Shape;84;p14"/>
          <p:cNvSpPr/>
          <p:nvPr/>
        </p:nvSpPr>
        <p:spPr>
          <a:xfrm rot="10800000">
            <a:off x="6953275" y="852853"/>
            <a:ext cx="214500" cy="1857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 txBox="1"/>
          <p:nvPr/>
        </p:nvSpPr>
        <p:spPr>
          <a:xfrm>
            <a:off x="2559025" y="2751642"/>
            <a:ext cx="18345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AE9209"/>
                </a:solidFill>
                <a:latin typeface="Do Hyeon"/>
                <a:ea typeface="Do Hyeon"/>
                <a:cs typeface="Do Hyeon"/>
                <a:sym typeface="Do Hyeon"/>
              </a:rPr>
              <a:t>항생제 사용 데이터,주사제 사용 데이터, 제세동기 위치, 암환자생존률, 당번약국, 건널목 교통사고, 독극물 정보 등</a:t>
            </a:r>
            <a:endParaRPr sz="1000">
              <a:solidFill>
                <a:srgbClr val="AE9209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86" name="Google Shape;86;p14"/>
          <p:cNvSpPr txBox="1"/>
          <p:nvPr>
            <p:ph idx="1" type="body"/>
          </p:nvPr>
        </p:nvSpPr>
        <p:spPr>
          <a:xfrm>
            <a:off x="408325" y="3048139"/>
            <a:ext cx="19287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Produced</a:t>
            </a: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 a prototype of “Ansim Hospital” at </a:t>
            </a: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Codetree’s first Hackathon 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87" name="Google Shape;87;p14"/>
          <p:cNvSpPr txBox="1"/>
          <p:nvPr>
            <p:ph idx="1" type="body"/>
          </p:nvPr>
        </p:nvSpPr>
        <p:spPr>
          <a:xfrm>
            <a:off x="2559033" y="3515478"/>
            <a:ext cx="18345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Changed name to </a:t>
            </a: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“ANSIM-E” with additional information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88" name="Google Shape;88;p14"/>
          <p:cNvSpPr txBox="1"/>
          <p:nvPr>
            <p:ph idx="1" type="body"/>
          </p:nvPr>
        </p:nvSpPr>
        <p:spPr>
          <a:xfrm>
            <a:off x="4709716" y="3020218"/>
            <a:ext cx="18345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Reflected data crawled from healthy insurance agency on map service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6770101" y="2634262"/>
            <a:ext cx="2214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Revamped project with Code for Korea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>
            <a:off x="685800" y="2965633"/>
            <a:ext cx="7772400" cy="7386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3664965" y="2140838"/>
            <a:ext cx="492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For the public</a:t>
            </a:r>
            <a:r>
              <a:rPr lang="en" sz="21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, By the public</a:t>
            </a:r>
            <a:endParaRPr sz="21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311700" y="278342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Project Goal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311700" y="149605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7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WE CENTER CITIZENS NOT CRISES</a:t>
            </a:r>
            <a:endParaRPr sz="34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98" name="Google Shape;98;p15"/>
          <p:cNvSpPr/>
          <p:nvPr/>
        </p:nvSpPr>
        <p:spPr>
          <a:xfrm rot="5400000">
            <a:off x="4510723" y="1275881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 rot="5400000">
            <a:off x="4780766" y="1275881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" name="Google Shape;100;p15"/>
          <p:cNvCxnSpPr/>
          <p:nvPr/>
        </p:nvCxnSpPr>
        <p:spPr>
          <a:xfrm>
            <a:off x="4059541" y="2318517"/>
            <a:ext cx="492300" cy="0"/>
          </a:xfrm>
          <a:prstGeom prst="straightConnector1">
            <a:avLst/>
          </a:prstGeom>
          <a:noFill/>
          <a:ln cap="flat" cmpd="sng" w="28575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951" y="2128667"/>
            <a:ext cx="379700" cy="379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15"/>
          <p:cNvCxnSpPr/>
          <p:nvPr/>
        </p:nvCxnSpPr>
        <p:spPr>
          <a:xfrm>
            <a:off x="4844563" y="2318517"/>
            <a:ext cx="488100" cy="0"/>
          </a:xfrm>
          <a:prstGeom prst="straightConnector1">
            <a:avLst/>
          </a:prstGeom>
          <a:noFill/>
          <a:ln cap="flat" cmpd="sng" w="28575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5"/>
          <p:cNvSpPr/>
          <p:nvPr/>
        </p:nvSpPr>
        <p:spPr>
          <a:xfrm rot="10800000">
            <a:off x="8121750" y="3693715"/>
            <a:ext cx="333900" cy="333900"/>
          </a:xfrm>
          <a:prstGeom prst="rtTriangle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-1680799" y="2050777"/>
            <a:ext cx="570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A disaster information service</a:t>
            </a:r>
            <a:endParaRPr sz="2200"/>
          </a:p>
        </p:txBody>
      </p:sp>
      <p:sp>
        <p:nvSpPr>
          <p:cNvPr id="105" name="Google Shape;105;p15"/>
          <p:cNvSpPr/>
          <p:nvPr/>
        </p:nvSpPr>
        <p:spPr>
          <a:xfrm rot="5400000">
            <a:off x="3430553" y="1275881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 rot="5400000">
            <a:off x="3700595" y="1275881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 rot="5400000">
            <a:off x="3970638" y="1275881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 rot="5400000">
            <a:off x="4240680" y="1275881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 rot="5400000">
            <a:off x="5050808" y="1275881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 rot="5400000">
            <a:off x="5320851" y="1275881"/>
            <a:ext cx="111900" cy="111900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694350" y="3058483"/>
            <a:ext cx="7755300" cy="5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“</a:t>
            </a:r>
            <a:r>
              <a:rPr b="1" lang="en" sz="21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Who</a:t>
            </a:r>
            <a:r>
              <a:rPr lang="en" sz="21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 experiences</a:t>
            </a:r>
            <a:r>
              <a:rPr lang="en" sz="21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 disasters and </a:t>
            </a:r>
            <a:r>
              <a:rPr b="1" lang="en" sz="21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what</a:t>
            </a:r>
            <a:r>
              <a:rPr lang="en" sz="2100">
                <a:solidFill>
                  <a:srgbClr val="000000"/>
                </a:solidFill>
                <a:latin typeface="Do Hyeon"/>
                <a:ea typeface="Do Hyeon"/>
                <a:cs typeface="Do Hyeon"/>
                <a:sym typeface="Do Hyeon"/>
              </a:rPr>
              <a:t> information do they need?”</a:t>
            </a:r>
            <a:endParaRPr sz="2100">
              <a:solidFill>
                <a:srgbClr val="000000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/>
        </p:nvSpPr>
        <p:spPr>
          <a:xfrm>
            <a:off x="311700" y="278342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What we did in 2024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311700" y="1085546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시민       공적 정보 살펴보기</a:t>
            </a:r>
            <a:endParaRPr sz="57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311700" y="2457249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인식&amp;정보 니즈</a:t>
            </a:r>
            <a:endParaRPr sz="2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3151874" y="2457249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공공서비스</a:t>
            </a:r>
            <a:endParaRPr sz="2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5992126" y="2457249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공공데이터</a:t>
            </a:r>
            <a:endParaRPr sz="2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311738" y="2787176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Awareness &amp; Info needs</a:t>
            </a:r>
            <a:endParaRPr sz="18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Noto Sans KR"/>
                <a:ea typeface="Noto Sans KR"/>
                <a:cs typeface="Noto Sans KR"/>
                <a:sym typeface="Noto Sans KR"/>
              </a:rPr>
              <a:t>2024.04</a:t>
            </a:r>
            <a:endParaRPr sz="1600">
              <a:solidFill>
                <a:srgbClr val="FDD40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3151900" y="2787176"/>
            <a:ext cx="28401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Reviewing public services</a:t>
            </a:r>
            <a:endParaRPr sz="1600">
              <a:solidFill>
                <a:srgbClr val="FDD4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Noto Sans KR"/>
                <a:ea typeface="Noto Sans KR"/>
                <a:cs typeface="Noto Sans KR"/>
                <a:sym typeface="Noto Sans KR"/>
              </a:rPr>
              <a:t>2024.06</a:t>
            </a:r>
            <a:endParaRPr sz="1600">
              <a:solidFill>
                <a:srgbClr val="FDD40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6012007" y="2787176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Public data</a:t>
            </a:r>
            <a:endParaRPr sz="1600">
              <a:solidFill>
                <a:srgbClr val="FDD40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Noto Sans KR"/>
                <a:ea typeface="Noto Sans KR"/>
                <a:cs typeface="Noto Sans KR"/>
                <a:sym typeface="Noto Sans KR"/>
              </a:rPr>
              <a:t>2024.09</a:t>
            </a:r>
            <a:endParaRPr sz="1600">
              <a:solidFill>
                <a:srgbClr val="FDD40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24" name="Google Shape;124;p16"/>
          <p:cNvCxnSpPr/>
          <p:nvPr/>
        </p:nvCxnSpPr>
        <p:spPr>
          <a:xfrm>
            <a:off x="1810875" y="1326318"/>
            <a:ext cx="492300" cy="0"/>
          </a:xfrm>
          <a:prstGeom prst="straightConnector1">
            <a:avLst/>
          </a:prstGeom>
          <a:noFill/>
          <a:ln cap="flat" cmpd="sng" w="28575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7900" y="1126546"/>
            <a:ext cx="379700" cy="379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16"/>
          <p:cNvCxnSpPr/>
          <p:nvPr/>
        </p:nvCxnSpPr>
        <p:spPr>
          <a:xfrm>
            <a:off x="2611513" y="1326318"/>
            <a:ext cx="488100" cy="0"/>
          </a:xfrm>
          <a:prstGeom prst="straightConnector1">
            <a:avLst/>
          </a:prstGeom>
          <a:noFill/>
          <a:ln cap="flat" cmpd="sng" w="28575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6"/>
          <p:cNvSpPr txBox="1"/>
          <p:nvPr/>
        </p:nvSpPr>
        <p:spPr>
          <a:xfrm>
            <a:off x="3151900" y="3470327"/>
            <a:ext cx="28401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재난 정보 앱 ‘안전디딤돌’에서 제공하는 재난 매뉴얼 탐색</a:t>
            </a:r>
            <a:b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exploring disaster manuals provided in the current service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311750" y="3500092"/>
            <a:ext cx="28401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재난 관련 인식과 재난 대비 내용 재난 정보 앱 사용 경험과 기대</a:t>
            </a:r>
            <a:b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preparedness for disasters &amp; expectations of info apps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6011969" y="3470327"/>
            <a:ext cx="28401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재난 데이터 살펴보며 가이드 &amp;                    재난 정보 수요자 목록 아이디어</a:t>
            </a:r>
            <a:b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disaster data review guides &amp; disaster info user list ideas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311700" y="1706813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1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Citizen : examining public information</a:t>
            </a:r>
            <a:endParaRPr sz="28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title="Screenshot 2025-09-13 at 10.00.33 AM.png"/>
          <p:cNvPicPr preferRelativeResize="0"/>
          <p:nvPr/>
        </p:nvPicPr>
        <p:blipFill rotWithShape="1">
          <a:blip r:embed="rId3">
            <a:alphaModFix/>
          </a:blip>
          <a:srcRect b="0" l="16917" r="20591" t="0"/>
          <a:stretch/>
        </p:blipFill>
        <p:spPr>
          <a:xfrm>
            <a:off x="210763" y="682650"/>
            <a:ext cx="4434299" cy="3638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title="Screenshot 2025-09-13 at 10.01.40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5611" y="682650"/>
            <a:ext cx="4197625" cy="3088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/>
        </p:nvSpPr>
        <p:spPr>
          <a:xfrm>
            <a:off x="311700" y="278342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What we did so far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3098983" y="2550542"/>
            <a:ext cx="2840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Public event inviting experts in disaster response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Where are the gaps?</a:t>
            </a:r>
            <a:endParaRPr i="1"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311750" y="2550542"/>
            <a:ext cx="2840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User scenario workshop for disaster kit packing app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What do different people need?</a:t>
            </a:r>
            <a:endParaRPr i="1"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6154579" y="2550542"/>
            <a:ext cx="2840100" cy="20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Relational database that connects types of disasters, types of people, items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How can we create a personalised disaster information service? </a:t>
            </a:r>
            <a:br>
              <a:rPr i="1"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i="1"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- focus on disaster kits</a:t>
            </a:r>
            <a:endParaRPr i="1"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308433" y="1074753"/>
            <a:ext cx="85206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4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Personalized Disaster Info Service</a:t>
            </a:r>
            <a:endParaRPr sz="34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308433" y="1820958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Workshop 1</a:t>
            </a:r>
            <a:endParaRPr sz="25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3125416" y="1820958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Workshop 2</a:t>
            </a:r>
            <a:endParaRPr sz="25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6131296" y="1820958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Data Collection</a:t>
            </a:r>
            <a:endParaRPr sz="25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308433" y="2190054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2025.04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3178370" y="2190054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2025.06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6197480" y="2190054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2025. -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48631" t="0"/>
          <a:stretch/>
        </p:blipFill>
        <p:spPr>
          <a:xfrm>
            <a:off x="4752825" y="910075"/>
            <a:ext cx="4338148" cy="332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/>
          <p:cNvPicPr preferRelativeResize="0"/>
          <p:nvPr/>
        </p:nvPicPr>
        <p:blipFill rotWithShape="1">
          <a:blip r:embed="rId4">
            <a:alphaModFix/>
          </a:blip>
          <a:srcRect b="0" l="0" r="49998" t="0"/>
          <a:stretch/>
        </p:blipFill>
        <p:spPr>
          <a:xfrm>
            <a:off x="419550" y="863813"/>
            <a:ext cx="4227224" cy="313108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308433" y="278342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April workshop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21" y="1562719"/>
            <a:ext cx="4371942" cy="2173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2768" y="1263208"/>
            <a:ext cx="3615524" cy="279815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308433" y="278342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Service blueprint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1" title="Screenshot 2025-09-09 at 1.40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500" y="1503700"/>
            <a:ext cx="3499153" cy="2254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1" title="Screenshot 2025-09-09 at 1.40.3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4548" y="1503702"/>
            <a:ext cx="4444529" cy="225481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/>
          <p:nvPr/>
        </p:nvSpPr>
        <p:spPr>
          <a:xfrm>
            <a:off x="308433" y="278342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Wireframe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2" title="iPhone 16 -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6996" y="1296558"/>
            <a:ext cx="1329000" cy="2881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 title="Main - 배낭관리 - 1차 생성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9015" y="1296558"/>
            <a:ext cx="1329000" cy="2881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 title="Main - 배낭관리 - 100%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3021" y="1296558"/>
            <a:ext cx="1329000" cy="2881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 title="Setting - keywords - 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95008" y="1296558"/>
            <a:ext cx="1329000" cy="2881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2" title="Setting - map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11002" y="1296558"/>
            <a:ext cx="1329000" cy="288119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Wireframe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3" title="IMG_58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006" y="822308"/>
            <a:ext cx="4485693" cy="336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3" title="IMG_581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1325" y="822308"/>
            <a:ext cx="2523199" cy="336426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/>
          <p:cNvSpPr txBox="1"/>
          <p:nvPr/>
        </p:nvSpPr>
        <p:spPr>
          <a:xfrm>
            <a:off x="308433" y="278342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June expert workshop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932525" y="4286150"/>
            <a:ext cx="27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DD40A"/>
                </a:solidFill>
              </a:rPr>
              <a:t>The Promise (Disaster relief NGO)</a:t>
            </a:r>
            <a:endParaRPr sz="1300">
              <a:solidFill>
                <a:srgbClr val="FDD40A"/>
              </a:solidFill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4060450" y="4286150"/>
            <a:ext cx="409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DD40A"/>
                </a:solidFill>
              </a:rPr>
              <a:t>Big Data Team of Daejeon (Central district office)</a:t>
            </a:r>
            <a:endParaRPr sz="1300">
              <a:solidFill>
                <a:srgbClr val="FDD40A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/>
        </p:nvSpPr>
        <p:spPr>
          <a:xfrm>
            <a:off x="308433" y="278342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Upcoming activities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7" name="Google Shape;197;p24"/>
          <p:cNvSpPr txBox="1"/>
          <p:nvPr/>
        </p:nvSpPr>
        <p:spPr>
          <a:xfrm>
            <a:off x="308433" y="1114440"/>
            <a:ext cx="85206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4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Personalized Disaster</a:t>
            </a:r>
            <a:r>
              <a:rPr lang="en" sz="34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</a:t>
            </a:r>
            <a:r>
              <a:rPr lang="en" sz="34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Info Service</a:t>
            </a:r>
            <a:endParaRPr sz="34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308433" y="1860646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FtO 2025</a:t>
            </a:r>
            <a:endParaRPr sz="25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3178333" y="1860646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Interviews</a:t>
            </a:r>
            <a:endParaRPr sz="25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6197442" y="1860646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Infographics</a:t>
            </a:r>
            <a:endParaRPr sz="25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01" name="Google Shape;201;p24"/>
          <p:cNvSpPr txBox="1"/>
          <p:nvPr/>
        </p:nvSpPr>
        <p:spPr>
          <a:xfrm>
            <a:off x="308433" y="2229742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2025.09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02" name="Google Shape;202;p24"/>
          <p:cNvSpPr txBox="1"/>
          <p:nvPr/>
        </p:nvSpPr>
        <p:spPr>
          <a:xfrm>
            <a:off x="3178370" y="2229742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2025.09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03" name="Google Shape;203;p24"/>
          <p:cNvSpPr txBox="1"/>
          <p:nvPr/>
        </p:nvSpPr>
        <p:spPr>
          <a:xfrm>
            <a:off x="6197480" y="2229742"/>
            <a:ext cx="28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2025.10</a:t>
            </a:r>
            <a:endParaRPr sz="16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04" name="Google Shape;204;p24"/>
          <p:cNvSpPr txBox="1"/>
          <p:nvPr/>
        </p:nvSpPr>
        <p:spPr>
          <a:xfrm>
            <a:off x="3178358" y="2587054"/>
            <a:ext cx="28401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Interviews with various groups of people e.g. people with pets, chronic illnesses, mobility impairment, etc.</a:t>
            </a:r>
            <a:endParaRPr sz="1000"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5" name="Google Shape;205;p24"/>
          <p:cNvSpPr txBox="1"/>
          <p:nvPr/>
        </p:nvSpPr>
        <p:spPr>
          <a:xfrm>
            <a:off x="308433" y="2587054"/>
            <a:ext cx="28401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Work on improving the database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Share experiences of accessing/using disaster information services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Make the p-ansim website</a:t>
            </a:r>
            <a:endParaRPr sz="1000"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6" name="Google Shape;206;p24"/>
          <p:cNvSpPr txBox="1"/>
          <p:nvPr/>
        </p:nvSpPr>
        <p:spPr>
          <a:xfrm>
            <a:off x="6197442" y="2587054"/>
            <a:ext cx="28401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Working with university students (design majors) to design infographics</a:t>
            </a:r>
            <a:endParaRPr sz="1000"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5" title="Screenshot 2025-10-12 at 9.31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27425"/>
            <a:ext cx="8839204" cy="448865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5"/>
          <p:cNvSpPr txBox="1"/>
          <p:nvPr/>
        </p:nvSpPr>
        <p:spPr>
          <a:xfrm>
            <a:off x="428200" y="494125"/>
            <a:ext cx="270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p-ansim-fto.vercel.app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6" title="Screenshot 2025-10-12 at 9.31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743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7" title="Screenshot 2025-10-12 at 9.32.0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820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8" title="Screenshot 2025-10-12 at 9.32.5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663" y="152400"/>
            <a:ext cx="859467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9" title="Screenshot 2025-10-12 at 9.33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557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0" title="Screenshot 2025-10-12 at 9.33.1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60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idx="1" type="body"/>
          </p:nvPr>
        </p:nvSpPr>
        <p:spPr>
          <a:xfrm>
            <a:off x="408326" y="1058900"/>
            <a:ext cx="2150700" cy="498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#한국거주외국인</a:t>
            </a:r>
            <a:endParaRPr sz="24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43" name="Google Shape;243;p31"/>
          <p:cNvSpPr txBox="1"/>
          <p:nvPr/>
        </p:nvSpPr>
        <p:spPr>
          <a:xfrm>
            <a:off x="311700" y="278342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인터뷰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44" name="Google Shape;244;p31"/>
          <p:cNvCxnSpPr/>
          <p:nvPr/>
        </p:nvCxnSpPr>
        <p:spPr>
          <a:xfrm>
            <a:off x="-41725" y="1775580"/>
            <a:ext cx="9306300" cy="0"/>
          </a:xfrm>
          <a:prstGeom prst="straightConnector1">
            <a:avLst/>
          </a:prstGeom>
          <a:noFill/>
          <a:ln cap="flat" cmpd="sng" w="19050">
            <a:solidFill>
              <a:srgbClr val="FDD4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31"/>
          <p:cNvSpPr/>
          <p:nvPr/>
        </p:nvSpPr>
        <p:spPr>
          <a:xfrm rot="2700000">
            <a:off x="466945" y="1634088"/>
            <a:ext cx="282984" cy="282984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1"/>
          <p:cNvSpPr/>
          <p:nvPr/>
        </p:nvSpPr>
        <p:spPr>
          <a:xfrm rot="2700000">
            <a:off x="4768345" y="1634088"/>
            <a:ext cx="282984" cy="282984"/>
          </a:xfrm>
          <a:prstGeom prst="rect">
            <a:avLst/>
          </a:prstGeom>
          <a:solidFill>
            <a:srgbClr val="FDD4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1"/>
          <p:cNvSpPr txBox="1"/>
          <p:nvPr>
            <p:ph idx="1" type="body"/>
          </p:nvPr>
        </p:nvSpPr>
        <p:spPr>
          <a:xfrm>
            <a:off x="408325" y="2072207"/>
            <a:ext cx="19287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재난 문자는 복사 붙여넣기도 되지 않아 스크린캡쳐 후 이미지 번역 등 복잡한 절차를 거쳐야 했다.</a:t>
            </a:r>
            <a:endParaRPr sz="1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대부분 정부의 비상 대응 앱 존재를 몰랐으며, 날씨 앱을 대체 정보원으로 활용했다.</a:t>
            </a:r>
            <a:endParaRPr sz="1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재난 알림은 ‘무엇이 일어났는지’는 알려주지만, ‘무엇을 해야 하는지’에 대한 구체적 행동 지침이 부족했다.</a:t>
            </a:r>
            <a:endParaRPr sz="1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48" name="Google Shape;248;p31"/>
          <p:cNvSpPr txBox="1"/>
          <p:nvPr/>
        </p:nvSpPr>
        <p:spPr>
          <a:xfrm>
            <a:off x="408325" y="1544730"/>
            <a:ext cx="4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249" name="Google Shape;249;p31"/>
          <p:cNvSpPr txBox="1"/>
          <p:nvPr/>
        </p:nvSpPr>
        <p:spPr>
          <a:xfrm>
            <a:off x="4709725" y="1544730"/>
            <a:ext cx="4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250" name="Google Shape;250;p31"/>
          <p:cNvSpPr txBox="1"/>
          <p:nvPr>
            <p:ph idx="1" type="body"/>
          </p:nvPr>
        </p:nvSpPr>
        <p:spPr>
          <a:xfrm>
            <a:off x="4709726" y="1058900"/>
            <a:ext cx="1834500" cy="498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#발달장애청년</a:t>
            </a:r>
            <a:endParaRPr sz="24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51" name="Google Shape;251;p31"/>
          <p:cNvSpPr txBox="1"/>
          <p:nvPr>
            <p:ph idx="1" type="body"/>
          </p:nvPr>
        </p:nvSpPr>
        <p:spPr>
          <a:xfrm>
            <a:off x="2559033" y="2072207"/>
            <a:ext cx="18345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외국인 커뮤니티는 위기 상황에서 핵심 정보망이자 신뢰의 기반으로 작동하며, SNS 그룹과 커뮤니티 리더 연락망을 통해 정보를 공유했다.</a:t>
            </a:r>
            <a:endParaRPr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52" name="Google Shape;252;p31"/>
          <p:cNvSpPr txBox="1"/>
          <p:nvPr>
            <p:ph idx="1" type="body"/>
          </p:nvPr>
        </p:nvSpPr>
        <p:spPr>
          <a:xfrm>
            <a:off x="4709716" y="2072207"/>
            <a:ext cx="1834500" cy="128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일부 발달장애인은 휴대폰을 소지하지 않거나 사용이 익숙하지 않아, 재난 시 물리적으로 가까이 있는 사람의 도움이 필수적이다.</a:t>
            </a:r>
            <a:endParaRPr sz="1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활동지원 서비스의 시간적 한계로 인해 발달장애인이 장시간 혼자 있을 수밖에 없는 구조적 문제가 지적되었다.</a:t>
            </a:r>
            <a:endParaRPr sz="1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53" name="Google Shape;253;p31"/>
          <p:cNvSpPr txBox="1"/>
          <p:nvPr>
            <p:ph idx="1" type="body"/>
          </p:nvPr>
        </p:nvSpPr>
        <p:spPr>
          <a:xfrm>
            <a:off x="6860425" y="2072199"/>
            <a:ext cx="1834500" cy="1912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재난 시 자동으로 위치 정보가 구조대나 활동보조인에게 전달되는 시스템의 필요성이 제기되었다.</a:t>
            </a:r>
            <a:endParaRPr sz="1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대피소에는 감각 과부하를 최소화할 수 있는 ‘조용한 공간’과 시각적 자극 차단 도구, 압박 조끼 같은 지원 장비가 마련될 필요가 있다.</a:t>
            </a:r>
            <a:endParaRPr sz="1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/>
        </p:nvSpPr>
        <p:spPr>
          <a:xfrm>
            <a:off x="311700" y="304800"/>
            <a:ext cx="23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Participation</a:t>
            </a:r>
            <a:endParaRPr sz="12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59" name="Google Shape;25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93377" y="2638629"/>
            <a:ext cx="909030" cy="90902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2"/>
          <p:cNvSpPr txBox="1"/>
          <p:nvPr/>
        </p:nvSpPr>
        <p:spPr>
          <a:xfrm>
            <a:off x="662538" y="188022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800">
                <a:solidFill>
                  <a:srgbClr val="FDD40A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Interested?</a:t>
            </a:r>
            <a:endParaRPr sz="3800">
              <a:solidFill>
                <a:srgbClr val="FDD40A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261" name="Google Shape;261;p32"/>
          <p:cNvSpPr txBox="1"/>
          <p:nvPr/>
        </p:nvSpPr>
        <p:spPr>
          <a:xfrm>
            <a:off x="662538" y="2387693"/>
            <a:ext cx="4058100" cy="16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CfK</a:t>
            </a:r>
            <a:r>
              <a:rPr lang="en" sz="23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 Discord</a:t>
            </a:r>
            <a:r>
              <a:rPr lang="en" sz="31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 </a:t>
            </a:r>
            <a:endParaRPr sz="31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Join us in the #</a:t>
            </a:r>
            <a:r>
              <a:rPr lang="en" sz="2300">
                <a:solidFill>
                  <a:srgbClr val="FDD40A"/>
                </a:solidFill>
                <a:latin typeface="Do Hyeon"/>
                <a:ea typeface="Do Hyeon"/>
                <a:cs typeface="Do Hyeon"/>
                <a:sym typeface="Do Hyeon"/>
              </a:rPr>
              <a:t>안심이 channel!</a:t>
            </a:r>
            <a:endParaRPr sz="2300">
              <a:solidFill>
                <a:srgbClr val="FDD40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62" name="Google Shape;262;p32"/>
          <p:cNvSpPr txBox="1"/>
          <p:nvPr/>
        </p:nvSpPr>
        <p:spPr>
          <a:xfrm>
            <a:off x="5655827" y="3922846"/>
            <a:ext cx="2823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https://discord.gg/yzhU9NHJ</a:t>
            </a:r>
            <a:r>
              <a:rPr lang="en" sz="1200">
                <a:solidFill>
                  <a:srgbClr val="AE920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>
              <a:solidFill>
                <a:srgbClr val="AE920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63" name="Google Shape;26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8382" y="1291280"/>
            <a:ext cx="2536625" cy="258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