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oto Sans KR"/>
      <p:regular r:id="rId30"/>
      <p:bold r:id="rId31"/>
    </p:embeddedFont>
    <p:embeddedFont>
      <p:font typeface="Do Hyeon"/>
      <p:regular r:id="rId32"/>
    </p:embeddedFont>
    <p:embeddedFont>
      <p:font typeface="Gothic A1"/>
      <p:regular r:id="rId33"/>
      <p:bold r:id="rId34"/>
    </p:embeddedFont>
    <p:embeddedFont>
      <p:font typeface="Noto Sans TC"/>
      <p:regular r:id="rId35"/>
      <p:bold r:id="rId36"/>
    </p:embeddedFont>
    <p:embeddedFont>
      <p:font typeface="Black Han Sans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KR-bold.fntdata"/><Relationship Id="rId30" Type="http://schemas.openxmlformats.org/officeDocument/2006/relationships/font" Target="fonts/NotoSansKR-regular.fntdata"/><Relationship Id="rId11" Type="http://schemas.openxmlformats.org/officeDocument/2006/relationships/slide" Target="slides/slide5.xml"/><Relationship Id="rId33" Type="http://schemas.openxmlformats.org/officeDocument/2006/relationships/font" Target="fonts/GothicA1-regular.fntdata"/><Relationship Id="rId10" Type="http://schemas.openxmlformats.org/officeDocument/2006/relationships/slide" Target="slides/slide4.xml"/><Relationship Id="rId32" Type="http://schemas.openxmlformats.org/officeDocument/2006/relationships/font" Target="fonts/DoHyeon-regular.fntdata"/><Relationship Id="rId13" Type="http://schemas.openxmlformats.org/officeDocument/2006/relationships/slide" Target="slides/slide7.xml"/><Relationship Id="rId35" Type="http://schemas.openxmlformats.org/officeDocument/2006/relationships/font" Target="fonts/NotoSansTC-regular.fntdata"/><Relationship Id="rId12" Type="http://schemas.openxmlformats.org/officeDocument/2006/relationships/slide" Target="slides/slide6.xml"/><Relationship Id="rId34" Type="http://schemas.openxmlformats.org/officeDocument/2006/relationships/font" Target="fonts/GothicA1-bold.fntdata"/><Relationship Id="rId15" Type="http://schemas.openxmlformats.org/officeDocument/2006/relationships/slide" Target="slides/slide9.xml"/><Relationship Id="rId37" Type="http://schemas.openxmlformats.org/officeDocument/2006/relationships/font" Target="fonts/BlackHanSans-regular.fntdata"/><Relationship Id="rId14" Type="http://schemas.openxmlformats.org/officeDocument/2006/relationships/slide" Target="slides/slide8.xml"/><Relationship Id="rId36" Type="http://schemas.openxmlformats.org/officeDocument/2006/relationships/font" Target="fonts/NotoSansTC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fb5a8d58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fb5a8d58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1509cc270_3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1509cc270_3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1509cc270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1509cc270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1509cc270_7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1509cc270_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1509cc270_7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1509cc270_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9a0cc518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9a0cc518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fb5a8d5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fb5a8d5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fb5a8d5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fb5a8d5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fb5a8d58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fb5a8d58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fb5a8d58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fb5a8d58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9a0cc518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9a0cc518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9a0cc518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9a0cc518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fb5a8d581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4fb5a8d581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9a0cc518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9a0cc518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9a0cc518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9a0cc518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9a0cc518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9a0cc518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9a14e78be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69a14e78be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9a14e78be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9a14e78be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9a0cc518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9a0cc518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9a14e78be_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69a14e78be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9a14e78be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69a14e78be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fb5a8d581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4fb5a8d58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페이지">
  <p:cSld name="빈 페이지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4443382" y="4902398"/>
            <a:ext cx="252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rmAutofit fontScale="92500" lnSpcReduction="20000"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sz="1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맞춤 레이아웃 1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/>
        </p:nvSpPr>
        <p:spPr>
          <a:xfrm>
            <a:off x="85567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444444"/>
                </a:solidFill>
                <a:latin typeface="Gothic A1"/>
                <a:ea typeface="Gothic A1"/>
                <a:cs typeface="Gothic A1"/>
                <a:sym typeface="Gothic A1"/>
              </a:rPr>
              <a:t>‹#›</a:t>
            </a:fld>
            <a:endParaRPr sz="1000">
              <a:solidFill>
                <a:srgbClr val="444444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Gothic A1"/>
              <a:buChar char="●"/>
              <a:defRPr sz="1800"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○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■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●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○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■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●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○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thic A1"/>
              <a:buChar char="■"/>
              <a:defRPr>
                <a:solidFill>
                  <a:schemeClr val="lt2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11700" y="4663227"/>
            <a:ext cx="1844471" cy="23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hyperlink" Target="https://gongbo.codefor.kr" TargetMode="External"/><Relationship Id="rId6" Type="http://schemas.openxmlformats.org/officeDocument/2006/relationships/hyperlink" Target="https://localpay.codefor.k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defor.kr/pages/civic-tech-archiv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hyperlink" Target="https://discord.gg/yzhU9NHJ" TargetMode="External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1095475" y="868025"/>
            <a:ext cx="6875400" cy="3369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7"/>
          <p:cNvSpPr txBox="1"/>
          <p:nvPr>
            <p:ph type="ctrTitle"/>
          </p:nvPr>
        </p:nvSpPr>
        <p:spPr>
          <a:xfrm>
            <a:off x="459025" y="1104292"/>
            <a:ext cx="8226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안</a:t>
            </a:r>
            <a:r>
              <a:rPr b="1" lang="en" sz="51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安</a:t>
            </a: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심</a:t>
            </a:r>
            <a:r>
              <a:rPr b="1" lang="en" sz="51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心</a:t>
            </a: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이</a:t>
            </a:r>
            <a:endParaRPr sz="141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07" name="Google Shape;107;p27"/>
          <p:cNvSpPr txBox="1"/>
          <p:nvPr>
            <p:ph idx="1" type="subTitle"/>
          </p:nvPr>
        </p:nvSpPr>
        <p:spPr>
          <a:xfrm>
            <a:off x="458975" y="3021263"/>
            <a:ext cx="82260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사람을 생각하는 재난 안전</a:t>
            </a:r>
            <a:endParaRPr sz="43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08" name="Google Shape;108;p27"/>
          <p:cNvSpPr txBox="1"/>
          <p:nvPr/>
        </p:nvSpPr>
        <p:spPr>
          <a:xfrm>
            <a:off x="535225" y="562325"/>
            <a:ext cx="300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oto Sans KR"/>
                <a:ea typeface="Noto Sans KR"/>
                <a:cs typeface="Noto Sans KR"/>
                <a:sym typeface="Noto Sans KR"/>
              </a:rPr>
              <a:t>2025 </a:t>
            </a:r>
            <a:r>
              <a:rPr b="1" lang="en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숲과 나눔 재단 풀씨 지원 사업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27"/>
          <p:cNvSpPr txBox="1"/>
          <p:nvPr/>
        </p:nvSpPr>
        <p:spPr>
          <a:xfrm>
            <a:off x="6299075" y="56232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0" name="Google Shape;110;p27"/>
          <p:cNvCxnSpPr>
            <a:stCxn id="108" idx="3"/>
            <a:endCxn id="111" idx="1"/>
          </p:cNvCxnSpPr>
          <p:nvPr/>
        </p:nvCxnSpPr>
        <p:spPr>
          <a:xfrm>
            <a:off x="3540325" y="762425"/>
            <a:ext cx="2869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27"/>
          <p:cNvSpPr txBox="1"/>
          <p:nvPr/>
        </p:nvSpPr>
        <p:spPr>
          <a:xfrm>
            <a:off x="6409950" y="562325"/>
            <a:ext cx="21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코드포코리아 6</a:t>
            </a:r>
            <a:r>
              <a:rPr b="1" lang="en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월 </a:t>
            </a:r>
            <a:r>
              <a:rPr b="1" lang="en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밋앤핵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8"/>
          <p:cNvPicPr preferRelativeResize="0"/>
          <p:nvPr/>
        </p:nvPicPr>
        <p:blipFill rotWithShape="1">
          <a:blip r:embed="rId3">
            <a:alphaModFix/>
          </a:blip>
          <a:srcRect b="0" l="0" r="60664" t="0"/>
          <a:stretch/>
        </p:blipFill>
        <p:spPr>
          <a:xfrm>
            <a:off x="114300" y="487050"/>
            <a:ext cx="1638300" cy="5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8"/>
          <p:cNvSpPr txBox="1"/>
          <p:nvPr/>
        </p:nvSpPr>
        <p:spPr>
          <a:xfrm>
            <a:off x="279575" y="1001413"/>
            <a:ext cx="4841400" cy="17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2000" lIns="0" spcFirstLastPara="1" rIns="91425" wrap="square" tIns="9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61C00"/>
                </a:solidFill>
                <a:latin typeface="Noto Sans KR"/>
                <a:ea typeface="Noto Sans KR"/>
                <a:cs typeface="Noto Sans KR"/>
                <a:sym typeface="Noto Sans KR"/>
              </a:rPr>
              <a:t>코드포코리아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endParaRPr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시민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들의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자발적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인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참여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를 통해</a:t>
            </a:r>
            <a:endParaRPr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정부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와 또 다른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시민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협력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하며</a:t>
            </a:r>
            <a:endParaRPr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스스로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문제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해결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하여</a:t>
            </a:r>
            <a:endParaRPr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더 나은 사회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를 만드는데 </a:t>
            </a: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기여</a:t>
            </a: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204659" y="3471275"/>
            <a:ext cx="47718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시빅 해킹(Civic Hacking)</a:t>
            </a:r>
            <a:r>
              <a:rPr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은 시민들이 새로운 도구와 접근 방법을 사용하여 신속하고 창의적으로 협업함으로써 그들의 도시 또는 정부시스템을 개선시켜 나가는 사회운동.</a:t>
            </a:r>
            <a:endParaRPr sz="10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시빅 해커</a:t>
            </a:r>
            <a:r>
              <a:rPr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(Civic Hacker) 디지털 기술로 사회 문제를 함께 해결하는 시민</a:t>
            </a:r>
            <a:endParaRPr sz="1200"/>
          </a:p>
        </p:txBody>
      </p:sp>
      <p:cxnSp>
        <p:nvCxnSpPr>
          <p:cNvPr id="119" name="Google Shape;119;p28"/>
          <p:cNvCxnSpPr/>
          <p:nvPr/>
        </p:nvCxnSpPr>
        <p:spPr>
          <a:xfrm>
            <a:off x="288973" y="3332675"/>
            <a:ext cx="456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8"/>
          <p:cNvSpPr/>
          <p:nvPr/>
        </p:nvSpPr>
        <p:spPr>
          <a:xfrm>
            <a:off x="0" y="4498350"/>
            <a:ext cx="2311500" cy="64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121" name="Google Shape;121;p28"/>
          <p:cNvPicPr preferRelativeResize="0"/>
          <p:nvPr/>
        </p:nvPicPr>
        <p:blipFill rotWithShape="1">
          <a:blip r:embed="rId4">
            <a:alphaModFix/>
          </a:blip>
          <a:srcRect b="0" l="0" r="2629" t="0"/>
          <a:stretch/>
        </p:blipFill>
        <p:spPr>
          <a:xfrm>
            <a:off x="5010150" y="0"/>
            <a:ext cx="4133850" cy="238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8" title="LWH-5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0150" y="2388425"/>
            <a:ext cx="4133852" cy="275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9"/>
          <p:cNvPicPr preferRelativeResize="0"/>
          <p:nvPr/>
        </p:nvPicPr>
        <p:blipFill rotWithShape="1">
          <a:blip r:embed="rId3">
            <a:alphaModFix/>
          </a:blip>
          <a:srcRect b="0" l="0" r="0" t="9641"/>
          <a:stretch/>
        </p:blipFill>
        <p:spPr>
          <a:xfrm>
            <a:off x="360000" y="2350300"/>
            <a:ext cx="5253650" cy="22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026" y="585705"/>
            <a:ext cx="2881299" cy="3972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/>
          <p:nvPr/>
        </p:nvSpPr>
        <p:spPr>
          <a:xfrm>
            <a:off x="360000" y="734700"/>
            <a:ext cx="833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코로나19 </a:t>
            </a:r>
            <a:endParaRPr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공적마스크 재고 서비스</a:t>
            </a:r>
            <a:endParaRPr b="1"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안심번호</a:t>
            </a:r>
            <a:endParaRPr b="1"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29"/>
          <p:cNvSpPr txBox="1"/>
          <p:nvPr/>
        </p:nvSpPr>
        <p:spPr>
          <a:xfrm>
            <a:off x="404550" y="280650"/>
            <a:ext cx="833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대표 프로젝트</a:t>
            </a:r>
            <a:endParaRPr sz="10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50" y="1844025"/>
            <a:ext cx="5077048" cy="329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367" y="585700"/>
            <a:ext cx="3038533" cy="45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0"/>
          <p:cNvSpPr txBox="1"/>
          <p:nvPr/>
        </p:nvSpPr>
        <p:spPr>
          <a:xfrm>
            <a:off x="360000" y="734700"/>
            <a:ext cx="833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전국 공보 지도</a:t>
            </a:r>
            <a:r>
              <a:rPr b="1" lang="en" sz="2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" u="sng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https://gongbo.codefor.kr</a:t>
            </a:r>
            <a:endParaRPr b="1" sz="20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지역화폐로 할게요</a:t>
            </a:r>
            <a:r>
              <a:rPr lang="en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" u="sng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https://localpay.codefor.kr</a:t>
            </a:r>
            <a:r>
              <a:rPr lang="en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404550" y="280650"/>
            <a:ext cx="833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대표 프로젝트</a:t>
            </a:r>
            <a:endParaRPr sz="10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/>
        </p:nvSpPr>
        <p:spPr>
          <a:xfrm>
            <a:off x="360000" y="734700"/>
            <a:ext cx="833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탄소 중립 대시보드</a:t>
            </a:r>
            <a:endParaRPr b="1"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시빅테크 아카이브 </a:t>
            </a:r>
            <a:endParaRPr b="1" sz="24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https://codefor.kr/pages/civic-tech-archive</a:t>
            </a:r>
            <a:r>
              <a:rPr lang="en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31"/>
          <p:cNvSpPr txBox="1"/>
          <p:nvPr/>
        </p:nvSpPr>
        <p:spPr>
          <a:xfrm>
            <a:off x="404550" y="280650"/>
            <a:ext cx="833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latin typeface="Noto Sans KR"/>
                <a:ea typeface="Noto Sans KR"/>
                <a:cs typeface="Noto Sans KR"/>
                <a:sym typeface="Noto Sans KR"/>
              </a:rPr>
              <a:t>대표 프로젝트</a:t>
            </a:r>
            <a:endParaRPr sz="1000">
              <a:solidFill>
                <a:srgbClr val="1F1F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626" y="2571750"/>
            <a:ext cx="439635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4200" y="1307399"/>
            <a:ext cx="4150277" cy="356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/>
        </p:nvSpPr>
        <p:spPr>
          <a:xfrm>
            <a:off x="311700" y="23409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안심이 소개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idx="1" type="body"/>
          </p:nvPr>
        </p:nvSpPr>
        <p:spPr>
          <a:xfrm>
            <a:off x="408335" y="1307250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2012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여정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8" name="Google Shape;158;p33"/>
          <p:cNvCxnSpPr/>
          <p:nvPr/>
        </p:nvCxnSpPr>
        <p:spPr>
          <a:xfrm>
            <a:off x="-41725" y="2055150"/>
            <a:ext cx="9306300" cy="0"/>
          </a:xfrm>
          <a:prstGeom prst="straightConnector1">
            <a:avLst/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33"/>
          <p:cNvSpPr/>
          <p:nvPr/>
        </p:nvSpPr>
        <p:spPr>
          <a:xfrm rot="2700000">
            <a:off x="4669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3"/>
          <p:cNvSpPr/>
          <p:nvPr/>
        </p:nvSpPr>
        <p:spPr>
          <a:xfrm rot="2700000">
            <a:off x="69190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3"/>
          <p:cNvSpPr/>
          <p:nvPr/>
        </p:nvSpPr>
        <p:spPr>
          <a:xfrm rot="2700000">
            <a:off x="47683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/>
          <p:nvPr/>
        </p:nvSpPr>
        <p:spPr>
          <a:xfrm rot="2700000">
            <a:off x="2617645" y="191365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3"/>
          <p:cNvSpPr txBox="1"/>
          <p:nvPr>
            <p:ph idx="1" type="body"/>
          </p:nvPr>
        </p:nvSpPr>
        <p:spPr>
          <a:xfrm>
            <a:off x="408325" y="2304450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코드나무 첫 해커톤에서 “안심병원” 프로토타입 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4083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25590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47097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2559033" y="2304450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정보 추가 후 “안심이”로 이름 변경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8" name="Google Shape;168;p33"/>
          <p:cNvSpPr txBox="1"/>
          <p:nvPr>
            <p:ph idx="1" type="body"/>
          </p:nvPr>
        </p:nvSpPr>
        <p:spPr>
          <a:xfrm>
            <a:off x="4709735" y="1307250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2014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4709716" y="2304450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건강보험심사평가원 데이터 크롤링해서 지도 서비스에 반영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6860435" y="1307250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</a:t>
            </a: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4</a:t>
            </a: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-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6860424" y="2304450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관심↑ 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코드포코리아의 프로젝트로 다시 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6860425" y="182430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4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73" name="Google Shape;173;p33"/>
          <p:cNvSpPr/>
          <p:nvPr/>
        </p:nvSpPr>
        <p:spPr>
          <a:xfrm rot="10800000">
            <a:off x="6953275" y="1072350"/>
            <a:ext cx="214500" cy="1857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3"/>
          <p:cNvSpPr txBox="1"/>
          <p:nvPr/>
        </p:nvSpPr>
        <p:spPr>
          <a:xfrm>
            <a:off x="2559025" y="3060400"/>
            <a:ext cx="1834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항생제 사용 데이터,주사제 사용 데이터, 제세동기 위치, 암환자생존률, 당번약국, 건널목 교통사고, 독극물 정보 등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/>
          <p:nvPr/>
        </p:nvSpPr>
        <p:spPr>
          <a:xfrm>
            <a:off x="685800" y="2786775"/>
            <a:ext cx="7772400" cy="7386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4"/>
          <p:cNvSpPr txBox="1"/>
          <p:nvPr/>
        </p:nvSpPr>
        <p:spPr>
          <a:xfrm>
            <a:off x="311700" y="1788175"/>
            <a:ext cx="438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시민을 위한, 시민들이 만드는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685800" y="2883825"/>
            <a:ext cx="77553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“재난을 마주하는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우리들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은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누구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이고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어떤 정보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를 </a:t>
            </a:r>
            <a:r>
              <a:rPr b="1"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필요</a:t>
            </a: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로 할까요?”</a:t>
            </a:r>
            <a:endParaRPr sz="2500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2" name="Google Shape;182;p34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34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사건이 아닌 사람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을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중심으로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84" name="Google Shape;184;p34"/>
          <p:cNvSpPr/>
          <p:nvPr/>
        </p:nvSpPr>
        <p:spPr>
          <a:xfrm rot="5400000">
            <a:off x="4341678" y="806673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4"/>
          <p:cNvSpPr/>
          <p:nvPr/>
        </p:nvSpPr>
        <p:spPr>
          <a:xfrm rot="5400000">
            <a:off x="4905253" y="806673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34"/>
          <p:cNvCxnSpPr/>
          <p:nvPr/>
        </p:nvCxnSpPr>
        <p:spPr>
          <a:xfrm>
            <a:off x="4743875" y="2019000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7" name="Google Shape;1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900" y="1829150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34"/>
          <p:cNvCxnSpPr/>
          <p:nvPr/>
        </p:nvCxnSpPr>
        <p:spPr>
          <a:xfrm>
            <a:off x="5544513" y="2019000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34"/>
          <p:cNvSpPr/>
          <p:nvPr/>
        </p:nvSpPr>
        <p:spPr>
          <a:xfrm rot="10800000">
            <a:off x="8121750" y="3514857"/>
            <a:ext cx="333900" cy="333900"/>
          </a:xfrm>
          <a:prstGeom prst="rtTriangle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4"/>
          <p:cNvSpPr txBox="1"/>
          <p:nvPr/>
        </p:nvSpPr>
        <p:spPr>
          <a:xfrm>
            <a:off x="5956425" y="1680475"/>
            <a:ext cx="273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대응 서비스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2024년 활동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6" name="Google Shape;196;p35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시민       공적 정보 살펴보기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311700" y="17881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인식&amp;정보 니즈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98" name="Google Shape;198;p35"/>
          <p:cNvSpPr txBox="1"/>
          <p:nvPr/>
        </p:nvSpPr>
        <p:spPr>
          <a:xfrm>
            <a:off x="3151874" y="17881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공공서비스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99" name="Google Shape;199;p35"/>
          <p:cNvSpPr txBox="1"/>
          <p:nvPr/>
        </p:nvSpPr>
        <p:spPr>
          <a:xfrm>
            <a:off x="5992126" y="17881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공공데이터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0" name="Google Shape;200;p35"/>
          <p:cNvSpPr txBox="1"/>
          <p:nvPr/>
        </p:nvSpPr>
        <p:spPr>
          <a:xfrm>
            <a:off x="311738" y="22498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2024.04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35"/>
          <p:cNvSpPr txBox="1"/>
          <p:nvPr/>
        </p:nvSpPr>
        <p:spPr>
          <a:xfrm>
            <a:off x="3151912" y="22498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2024.06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35"/>
          <p:cNvSpPr txBox="1"/>
          <p:nvPr/>
        </p:nvSpPr>
        <p:spPr>
          <a:xfrm>
            <a:off x="5992163" y="2249850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2024.09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03" name="Google Shape;203;p35"/>
          <p:cNvCxnSpPr/>
          <p:nvPr/>
        </p:nvCxnSpPr>
        <p:spPr>
          <a:xfrm>
            <a:off x="1810875" y="1342725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" name="Google Shape;2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900" y="1152875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35"/>
          <p:cNvCxnSpPr/>
          <p:nvPr/>
        </p:nvCxnSpPr>
        <p:spPr>
          <a:xfrm>
            <a:off x="2611513" y="1342725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35"/>
          <p:cNvSpPr txBox="1"/>
          <p:nvPr/>
        </p:nvSpPr>
        <p:spPr>
          <a:xfrm>
            <a:off x="3151900" y="2802425"/>
            <a:ext cx="2840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 ‘안전디딤돌’에서 제공하는 재난 매뉴얼 탐색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35"/>
          <p:cNvSpPr txBox="1"/>
          <p:nvPr/>
        </p:nvSpPr>
        <p:spPr>
          <a:xfrm>
            <a:off x="311750" y="2802425"/>
            <a:ext cx="2840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관련 인식과 재난 대비 내용 재난 정보 앱 사용 경험과 기대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5992125" y="2802425"/>
            <a:ext cx="2840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데이터 살펴보며 가이드 &amp;                    재난 정보 수요자 목록 아이디어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4월 활동 소개 | 주제 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36"/>
          <p:cNvSpPr txBox="1"/>
          <p:nvPr/>
        </p:nvSpPr>
        <p:spPr>
          <a:xfrm>
            <a:off x="311700" y="705000"/>
            <a:ext cx="85206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[재난 상황]이 발생하면 [사람]은 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[무엇]을 챙겨서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[어떤] 곳으로 대피해야 할까요?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4월 </a:t>
            </a: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활동 소개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311700" y="705000"/>
            <a:ext cx="85206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highlight>
                  <a:srgbClr val="FDD40A"/>
                </a:highlight>
                <a:latin typeface="Black Han Sans"/>
                <a:ea typeface="Black Han Sans"/>
                <a:cs typeface="Black Han Sans"/>
                <a:sym typeface="Black Han Sans"/>
              </a:rPr>
              <a:t>[재난 상황]</a:t>
            </a: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이 발생하면 </a:t>
            </a:r>
            <a:r>
              <a:rPr lang="en" sz="5000">
                <a:solidFill>
                  <a:schemeClr val="dk1"/>
                </a:solidFill>
                <a:highlight>
                  <a:srgbClr val="FDD40A"/>
                </a:highlight>
                <a:latin typeface="Black Han Sans"/>
                <a:ea typeface="Black Han Sans"/>
                <a:cs typeface="Black Han Sans"/>
                <a:sym typeface="Black Han Sans"/>
              </a:rPr>
              <a:t>[사람]</a:t>
            </a: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은 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[무엇]을 챙겨서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[어떤] 곳으로 대피해야 할까요?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0" y="1880100"/>
            <a:ext cx="9144000" cy="32634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"/>
          <p:cNvSpPr txBox="1"/>
          <p:nvPr/>
        </p:nvSpPr>
        <p:spPr>
          <a:xfrm>
            <a:off x="392550" y="2073150"/>
            <a:ext cx="8084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o Hyeon"/>
                <a:ea typeface="Do Hyeon"/>
                <a:cs typeface="Do Hyeon"/>
                <a:sym typeface="Do Hyeon"/>
              </a:rPr>
              <a:t>[재난 상황] 카드 1장과 [</a:t>
            </a:r>
            <a:r>
              <a:rPr lang="en" sz="36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사람]</a:t>
            </a:r>
            <a:r>
              <a:rPr lang="en" sz="36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카드 1장</a:t>
            </a:r>
            <a:r>
              <a:rPr lang="en" sz="32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을 조합해서</a:t>
            </a:r>
            <a:endParaRPr sz="32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223" name="Google Shape;223;p37"/>
          <p:cNvGrpSpPr/>
          <p:nvPr/>
        </p:nvGrpSpPr>
        <p:grpSpPr>
          <a:xfrm>
            <a:off x="9358606" y="2132600"/>
            <a:ext cx="1288738" cy="379700"/>
            <a:chOff x="-1623325" y="1603525"/>
            <a:chExt cx="1288738" cy="379700"/>
          </a:xfrm>
        </p:grpSpPr>
        <p:cxnSp>
          <p:nvCxnSpPr>
            <p:cNvPr id="224" name="Google Shape;224;p37"/>
            <p:cNvCxnSpPr/>
            <p:nvPr/>
          </p:nvCxnSpPr>
          <p:spPr>
            <a:xfrm>
              <a:off x="-1623325" y="1793375"/>
              <a:ext cx="49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25" name="Google Shape;225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166300" y="1603525"/>
              <a:ext cx="379700" cy="379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6" name="Google Shape;226;p37"/>
            <p:cNvCxnSpPr/>
            <p:nvPr/>
          </p:nvCxnSpPr>
          <p:spPr>
            <a:xfrm>
              <a:off x="-822687" y="1793375"/>
              <a:ext cx="488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7" name="Google Shape;227;p37"/>
          <p:cNvSpPr txBox="1"/>
          <p:nvPr/>
        </p:nvSpPr>
        <p:spPr>
          <a:xfrm>
            <a:off x="5323275" y="2073143"/>
            <a:ext cx="3340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228" name="Google Shape;228;p37"/>
          <p:cNvGrpSpPr/>
          <p:nvPr/>
        </p:nvGrpSpPr>
        <p:grpSpPr>
          <a:xfrm>
            <a:off x="777475" y="2997150"/>
            <a:ext cx="1195858" cy="1602360"/>
            <a:chOff x="574950" y="2997150"/>
            <a:chExt cx="1195858" cy="1602360"/>
          </a:xfrm>
        </p:grpSpPr>
        <p:sp>
          <p:nvSpPr>
            <p:cNvPr id="229" name="Google Shape;229;p37"/>
            <p:cNvSpPr/>
            <p:nvPr/>
          </p:nvSpPr>
          <p:spPr>
            <a:xfrm>
              <a:off x="574950" y="2997150"/>
              <a:ext cx="954300" cy="13608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7"/>
            <p:cNvSpPr/>
            <p:nvPr/>
          </p:nvSpPr>
          <p:spPr>
            <a:xfrm>
              <a:off x="695729" y="3117930"/>
              <a:ext cx="954300" cy="1360800"/>
            </a:xfrm>
            <a:prstGeom prst="rect">
              <a:avLst/>
            </a:prstGeom>
            <a:solidFill>
              <a:srgbClr val="D9D9D9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7"/>
            <p:cNvSpPr/>
            <p:nvPr/>
          </p:nvSpPr>
          <p:spPr>
            <a:xfrm>
              <a:off x="816508" y="3238710"/>
              <a:ext cx="954300" cy="1360800"/>
            </a:xfrm>
            <a:prstGeom prst="rect">
              <a:avLst/>
            </a:prstGeom>
            <a:solidFill>
              <a:srgbClr val="FDD40A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Do Hyeon"/>
                  <a:ea typeface="Do Hyeon"/>
                  <a:cs typeface="Do Hyeon"/>
                  <a:sym typeface="Do Hyeon"/>
                </a:rPr>
                <a:t>재난</a:t>
              </a:r>
              <a:endParaRPr/>
            </a:p>
          </p:txBody>
        </p:sp>
      </p:grpSp>
      <p:sp>
        <p:nvSpPr>
          <p:cNvPr id="232" name="Google Shape;232;p37"/>
          <p:cNvSpPr txBox="1"/>
          <p:nvPr/>
        </p:nvSpPr>
        <p:spPr>
          <a:xfrm>
            <a:off x="4422750" y="2722300"/>
            <a:ext cx="40539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내가 아닌 다른 사람의 </a:t>
            </a:r>
            <a:r>
              <a:rPr lang="en" sz="32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특정한 </a:t>
            </a:r>
            <a:r>
              <a:rPr lang="en" sz="32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상황을 이해하고 구체적으로 가정합니다. </a:t>
            </a:r>
            <a:endParaRPr sz="32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233" name="Google Shape;233;p37"/>
          <p:cNvGrpSpPr/>
          <p:nvPr/>
        </p:nvGrpSpPr>
        <p:grpSpPr>
          <a:xfrm>
            <a:off x="2988300" y="2997150"/>
            <a:ext cx="1195858" cy="1602360"/>
            <a:chOff x="574950" y="2997150"/>
            <a:chExt cx="1195858" cy="1602360"/>
          </a:xfrm>
        </p:grpSpPr>
        <p:sp>
          <p:nvSpPr>
            <p:cNvPr id="234" name="Google Shape;234;p37"/>
            <p:cNvSpPr/>
            <p:nvPr/>
          </p:nvSpPr>
          <p:spPr>
            <a:xfrm>
              <a:off x="574950" y="2997150"/>
              <a:ext cx="954300" cy="1360800"/>
            </a:xfrm>
            <a:prstGeom prst="rect">
              <a:avLst/>
            </a:prstGeom>
            <a:solidFill>
              <a:srgbClr val="B7B7B7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7"/>
            <p:cNvSpPr/>
            <p:nvPr/>
          </p:nvSpPr>
          <p:spPr>
            <a:xfrm>
              <a:off x="695729" y="3117930"/>
              <a:ext cx="954300" cy="1360800"/>
            </a:xfrm>
            <a:prstGeom prst="rect">
              <a:avLst/>
            </a:prstGeom>
            <a:solidFill>
              <a:srgbClr val="D9D9D9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7"/>
            <p:cNvSpPr/>
            <p:nvPr/>
          </p:nvSpPr>
          <p:spPr>
            <a:xfrm>
              <a:off x="816508" y="3238710"/>
              <a:ext cx="954300" cy="1360800"/>
            </a:xfrm>
            <a:prstGeom prst="rect">
              <a:avLst/>
            </a:prstGeom>
            <a:solidFill>
              <a:srgbClr val="FDD40A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Do Hyeon"/>
                  <a:ea typeface="Do Hyeon"/>
                  <a:cs typeface="Do Hyeon"/>
                  <a:sym typeface="Do Hyeon"/>
                </a:rPr>
                <a:t>사람</a:t>
              </a:r>
              <a:endParaRPr/>
            </a:p>
          </p:txBody>
        </p:sp>
      </p:grpSp>
      <p:sp>
        <p:nvSpPr>
          <p:cNvPr id="237" name="Google Shape;237;p37"/>
          <p:cNvSpPr/>
          <p:nvPr/>
        </p:nvSpPr>
        <p:spPr>
          <a:xfrm>
            <a:off x="2185000" y="3603925"/>
            <a:ext cx="591600" cy="591600"/>
          </a:xfrm>
          <a:prstGeom prst="mathPlus">
            <a:avLst>
              <a:gd fmla="val 23520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/>
          <p:nvPr/>
        </p:nvSpPr>
        <p:spPr>
          <a:xfrm>
            <a:off x="-93400" y="-79025"/>
            <a:ext cx="9374700" cy="18816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8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상황 (1/2)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152400" y="699850"/>
            <a:ext cx="8705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행안부 미래안전이슈 18호</a:t>
            </a:r>
            <a:r>
              <a:rPr lang="en" sz="20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(21.12)</a:t>
            </a: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“시나리오로 본 우리나라 미래 재난 전망” 참고 </a:t>
            </a:r>
            <a:r>
              <a:rPr b="1"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미래 위험성 높은 재난 8개 선정</a:t>
            </a:r>
            <a:endParaRPr b="1"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408335" y="1936575"/>
            <a:ext cx="1138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풍수해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408325" y="2435175"/>
            <a:ext cx="1720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수도권을 강타한 가을 슈퍼태풍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47" name="Google Shape;247;p38"/>
          <p:cNvSpPr txBox="1"/>
          <p:nvPr/>
        </p:nvSpPr>
        <p:spPr>
          <a:xfrm>
            <a:off x="2559033" y="2435175"/>
            <a:ext cx="1834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40℃의 폭염이 전국을 덮친다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4709735" y="1936575"/>
            <a:ext cx="1138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산불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4709716" y="2435175"/>
            <a:ext cx="1834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건조주의보 속 불씨 하나, 마을을 삼키다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6860435" y="1936575"/>
            <a:ext cx="1138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지진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6860424" y="2435175"/>
            <a:ext cx="1834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예고 없이 도시를 흔든 새벽 3시의 강진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2559035" y="1936575"/>
            <a:ext cx="1138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폭염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pic>
        <p:nvPicPr>
          <p:cNvPr id="253" name="Google Shape;253;p38" title="Group 8.png"/>
          <p:cNvPicPr preferRelativeResize="0"/>
          <p:nvPr/>
        </p:nvPicPr>
        <p:blipFill rotWithShape="1">
          <a:blip r:embed="rId3">
            <a:alphaModFix/>
          </a:blip>
          <a:srcRect b="0" l="0" r="50057" t="0"/>
          <a:stretch/>
        </p:blipFill>
        <p:spPr>
          <a:xfrm>
            <a:off x="4961588" y="3363450"/>
            <a:ext cx="1330775" cy="18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8" title="Group 7.png"/>
          <p:cNvPicPr preferRelativeResize="0"/>
          <p:nvPr/>
        </p:nvPicPr>
        <p:blipFill rotWithShape="1">
          <a:blip r:embed="rId4">
            <a:alphaModFix/>
          </a:blip>
          <a:srcRect b="0" l="0" r="50057" t="0"/>
          <a:stretch/>
        </p:blipFill>
        <p:spPr>
          <a:xfrm>
            <a:off x="2810888" y="3360300"/>
            <a:ext cx="1330775" cy="18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8" title="Group 6.png"/>
          <p:cNvPicPr preferRelativeResize="0"/>
          <p:nvPr/>
        </p:nvPicPr>
        <p:blipFill rotWithShape="1">
          <a:blip r:embed="rId5">
            <a:alphaModFix/>
          </a:blip>
          <a:srcRect b="0" l="0" r="50057" t="0"/>
          <a:stretch/>
        </p:blipFill>
        <p:spPr>
          <a:xfrm>
            <a:off x="7112300" y="3363450"/>
            <a:ext cx="1330775" cy="18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 title="Component 1.png"/>
          <p:cNvPicPr preferRelativeResize="0"/>
          <p:nvPr/>
        </p:nvPicPr>
        <p:blipFill rotWithShape="1">
          <a:blip r:embed="rId6">
            <a:alphaModFix/>
          </a:blip>
          <a:srcRect b="0" l="0" r="50057" t="0"/>
          <a:stretch/>
        </p:blipFill>
        <p:spPr>
          <a:xfrm>
            <a:off x="603188" y="3360300"/>
            <a:ext cx="1330775" cy="18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/>
          <p:nvPr/>
        </p:nvSpPr>
        <p:spPr>
          <a:xfrm>
            <a:off x="-93400" y="-79025"/>
            <a:ext cx="9374700" cy="18816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9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상황 (2/2)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3" name="Google Shape;263;p39"/>
          <p:cNvSpPr txBox="1"/>
          <p:nvPr/>
        </p:nvSpPr>
        <p:spPr>
          <a:xfrm>
            <a:off x="152400" y="699850"/>
            <a:ext cx="8705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행안부 미래안전이슈 18호</a:t>
            </a:r>
            <a:r>
              <a:rPr lang="en" sz="20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(21.12)</a:t>
            </a: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“시나리오로 본 우리나라 미래 재난 전망” 참고 </a:t>
            </a:r>
            <a:r>
              <a:rPr b="1"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미래 위험성 높은 재난 8개 선정</a:t>
            </a:r>
            <a:endParaRPr b="1"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64" name="Google Shape;264;p39"/>
          <p:cNvSpPr txBox="1"/>
          <p:nvPr/>
        </p:nvSpPr>
        <p:spPr>
          <a:xfrm>
            <a:off x="408335" y="1936575"/>
            <a:ext cx="1138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폭발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65" name="Google Shape;265;p39"/>
          <p:cNvSpPr txBox="1"/>
          <p:nvPr/>
        </p:nvSpPr>
        <p:spPr>
          <a:xfrm>
            <a:off x="408325" y="2435175"/>
            <a:ext cx="1720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주차장 폭발, 불길과 연기로 덮인 골목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2559033" y="2435175"/>
            <a:ext cx="1834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냄새도 없이 퍼지는 죽음의 기체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4709720" y="1936575"/>
            <a:ext cx="1720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방사능 누출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4709716" y="2435175"/>
            <a:ext cx="1834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원자력 발전소 사고, 방사능 물질 유출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6860435" y="1936575"/>
            <a:ext cx="1138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테러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6860424" y="2435175"/>
            <a:ext cx="18345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멈춰버린 도시, 확산되는 공포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2559019" y="1936575"/>
            <a:ext cx="1834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화학물질 누출</a:t>
            </a:r>
            <a:endParaRPr sz="2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pic>
        <p:nvPicPr>
          <p:cNvPr id="272" name="Google Shape;272;p39" title="Group 11.png"/>
          <p:cNvPicPr preferRelativeResize="0"/>
          <p:nvPr/>
        </p:nvPicPr>
        <p:blipFill rotWithShape="1">
          <a:blip r:embed="rId3">
            <a:alphaModFix/>
          </a:blip>
          <a:srcRect b="0" l="0" r="50057" t="0"/>
          <a:stretch/>
        </p:blipFill>
        <p:spPr>
          <a:xfrm>
            <a:off x="4904588" y="3363450"/>
            <a:ext cx="1330775" cy="18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9" title="Group 12.png"/>
          <p:cNvPicPr preferRelativeResize="0"/>
          <p:nvPr/>
        </p:nvPicPr>
        <p:blipFill rotWithShape="1">
          <a:blip r:embed="rId4">
            <a:alphaModFix/>
          </a:blip>
          <a:srcRect b="0" l="0" r="50057" t="0"/>
          <a:stretch/>
        </p:blipFill>
        <p:spPr>
          <a:xfrm>
            <a:off x="7112288" y="3363450"/>
            <a:ext cx="1330775" cy="187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 title="Group 10.png"/>
          <p:cNvPicPr preferRelativeResize="0"/>
          <p:nvPr/>
        </p:nvPicPr>
        <p:blipFill rotWithShape="1">
          <a:blip r:embed="rId5">
            <a:alphaModFix/>
          </a:blip>
          <a:srcRect b="0" l="0" r="50057" t="0"/>
          <a:stretch/>
        </p:blipFill>
        <p:spPr>
          <a:xfrm>
            <a:off x="2810875" y="3360300"/>
            <a:ext cx="1330775" cy="18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9" title="Group 9.png"/>
          <p:cNvPicPr preferRelativeResize="0"/>
          <p:nvPr/>
        </p:nvPicPr>
        <p:blipFill rotWithShape="1">
          <a:blip r:embed="rId6">
            <a:alphaModFix/>
          </a:blip>
          <a:srcRect b="0" l="0" r="50057" t="0"/>
          <a:stretch/>
        </p:blipFill>
        <p:spPr>
          <a:xfrm>
            <a:off x="603188" y="3360300"/>
            <a:ext cx="1330775" cy="18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0" title="IMG_7136 3.HEI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00" y="994351"/>
            <a:ext cx="3999002" cy="299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0" title="IMG_7151 3.HEIC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995300"/>
            <a:ext cx="3999002" cy="299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0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4월 활동 소개 | </a:t>
            </a: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활동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/>
        </p:nvSpPr>
        <p:spPr>
          <a:xfrm>
            <a:off x="311700" y="23409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패널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대담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/>
        </p:nvSpPr>
        <p:spPr>
          <a:xfrm>
            <a:off x="311700" y="23409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워크샵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/>
          <p:nvPr/>
        </p:nvSpPr>
        <p:spPr>
          <a:xfrm>
            <a:off x="-93400" y="-76200"/>
            <a:ext cx="9374700" cy="1878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152400" y="699850"/>
            <a:ext cx="87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누구나 쉽게 자신의 상황에 맞는 최적의 재난안전정보를 찾고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실제</a:t>
            </a: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재난 상황에서 도움을 받을 수 있는 디지털 서비스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-2012800" y="2407800"/>
            <a:ext cx="1720500" cy="21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거주 지역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주거 형태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가족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신체 특성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문화적 배경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언어 능력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라이프스타일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취미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…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509031" y="2407800"/>
            <a:ext cx="6125938" cy="1998900"/>
            <a:chOff x="1820787" y="2407800"/>
            <a:chExt cx="6125938" cy="1998900"/>
          </a:xfrm>
        </p:grpSpPr>
        <p:sp>
          <p:nvSpPr>
            <p:cNvPr id="302" name="Google Shape;302;p43"/>
            <p:cNvSpPr/>
            <p:nvPr/>
          </p:nvSpPr>
          <p:spPr>
            <a:xfrm>
              <a:off x="5947825" y="2407800"/>
              <a:ext cx="1998900" cy="1998900"/>
            </a:xfrm>
            <a:prstGeom prst="ellipse">
              <a:avLst/>
            </a:prstGeom>
            <a:solidFill>
              <a:srgbClr val="FDD40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3"/>
            <p:cNvSpPr txBox="1"/>
            <p:nvPr/>
          </p:nvSpPr>
          <p:spPr>
            <a:xfrm>
              <a:off x="6229975" y="3157950"/>
              <a:ext cx="14346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4000">
                  <a:latin typeface="Black Han Sans"/>
                  <a:ea typeface="Black Han Sans"/>
                  <a:cs typeface="Black Han Sans"/>
                  <a:sym typeface="Black Han Sans"/>
                </a:rPr>
                <a:t>안심이</a:t>
              </a:r>
              <a:endParaRPr sz="4000">
                <a:latin typeface="Black Han Sans"/>
                <a:ea typeface="Black Han Sans"/>
                <a:cs typeface="Black Han Sans"/>
                <a:sym typeface="Black Han Sans"/>
              </a:endParaRPr>
            </a:p>
          </p:txBody>
        </p:sp>
        <p:grpSp>
          <p:nvGrpSpPr>
            <p:cNvPr id="304" name="Google Shape;304;p43"/>
            <p:cNvGrpSpPr/>
            <p:nvPr/>
          </p:nvGrpSpPr>
          <p:grpSpPr>
            <a:xfrm>
              <a:off x="1820787" y="2744547"/>
              <a:ext cx="1137164" cy="1325405"/>
              <a:chOff x="6284250" y="2463413"/>
              <a:chExt cx="840600" cy="979822"/>
            </a:xfrm>
          </p:grpSpPr>
          <p:sp>
            <p:nvSpPr>
              <p:cNvPr id="305" name="Google Shape;305;p43"/>
              <p:cNvSpPr/>
              <p:nvPr/>
            </p:nvSpPr>
            <p:spPr>
              <a:xfrm>
                <a:off x="6284250" y="2856735"/>
                <a:ext cx="840600" cy="58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rgbClr val="FDD40A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43"/>
              <p:cNvSpPr/>
              <p:nvPr/>
            </p:nvSpPr>
            <p:spPr>
              <a:xfrm>
                <a:off x="6449667" y="2463413"/>
                <a:ext cx="509700" cy="509700"/>
              </a:xfrm>
              <a:prstGeom prst="ellipse">
                <a:avLst/>
              </a:prstGeom>
              <a:solidFill>
                <a:srgbClr val="FDD40A"/>
              </a:solidFill>
              <a:ln cap="flat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7" name="Google Shape;307;p43"/>
            <p:cNvGrpSpPr/>
            <p:nvPr/>
          </p:nvGrpSpPr>
          <p:grpSpPr>
            <a:xfrm>
              <a:off x="3774634" y="2890000"/>
              <a:ext cx="1594733" cy="457500"/>
              <a:chOff x="3328317" y="2560550"/>
              <a:chExt cx="1594733" cy="457500"/>
            </a:xfrm>
          </p:grpSpPr>
          <p:sp>
            <p:nvSpPr>
              <p:cNvPr id="308" name="Google Shape;308;p43"/>
              <p:cNvSpPr/>
              <p:nvPr/>
            </p:nvSpPr>
            <p:spPr>
              <a:xfrm>
                <a:off x="4465550" y="2560550"/>
                <a:ext cx="457500" cy="457500"/>
              </a:xfrm>
              <a:prstGeom prst="rtTriangle">
                <a:avLst/>
              </a:prstGeom>
              <a:solidFill>
                <a:srgbClr val="FDD40A"/>
              </a:solidFill>
              <a:ln cap="flat" cmpd="sng" w="9525">
                <a:solidFill>
                  <a:srgbClr val="FDD40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43"/>
              <p:cNvSpPr/>
              <p:nvPr/>
            </p:nvSpPr>
            <p:spPr>
              <a:xfrm>
                <a:off x="3328317" y="2765975"/>
                <a:ext cx="1137300" cy="248400"/>
              </a:xfrm>
              <a:prstGeom prst="rect">
                <a:avLst/>
              </a:prstGeom>
              <a:solidFill>
                <a:srgbClr val="FDD40A"/>
              </a:solidFill>
              <a:ln cap="flat" cmpd="sng" w="9525">
                <a:solidFill>
                  <a:srgbClr val="FDD40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" name="Google Shape;310;p43"/>
            <p:cNvSpPr txBox="1"/>
            <p:nvPr/>
          </p:nvSpPr>
          <p:spPr>
            <a:xfrm>
              <a:off x="3774625" y="2600325"/>
              <a:ext cx="1279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DD40A"/>
                  </a:solidFill>
                  <a:latin typeface="Do Hyeon"/>
                  <a:ea typeface="Do Hyeon"/>
                  <a:cs typeface="Do Hyeon"/>
                  <a:sym typeface="Do Hyeon"/>
                </a:rPr>
                <a:t>개인 특성</a:t>
              </a:r>
              <a:endParaRPr sz="20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endParaRPr>
            </a:p>
          </p:txBody>
        </p:sp>
        <p:grpSp>
          <p:nvGrpSpPr>
            <p:cNvPr id="311" name="Google Shape;311;p43"/>
            <p:cNvGrpSpPr/>
            <p:nvPr/>
          </p:nvGrpSpPr>
          <p:grpSpPr>
            <a:xfrm rot="10800000">
              <a:off x="3774634" y="3471025"/>
              <a:ext cx="1594733" cy="457500"/>
              <a:chOff x="3328317" y="2560550"/>
              <a:chExt cx="1594733" cy="457500"/>
            </a:xfrm>
          </p:grpSpPr>
          <p:sp>
            <p:nvSpPr>
              <p:cNvPr id="312" name="Google Shape;312;p43"/>
              <p:cNvSpPr/>
              <p:nvPr/>
            </p:nvSpPr>
            <p:spPr>
              <a:xfrm>
                <a:off x="4465550" y="2560550"/>
                <a:ext cx="457500" cy="457500"/>
              </a:xfrm>
              <a:prstGeom prst="rtTriangle">
                <a:avLst/>
              </a:prstGeom>
              <a:solidFill>
                <a:srgbClr val="FDD40A"/>
              </a:solidFill>
              <a:ln cap="flat" cmpd="sng" w="9525">
                <a:solidFill>
                  <a:srgbClr val="FDD40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43"/>
              <p:cNvSpPr/>
              <p:nvPr/>
            </p:nvSpPr>
            <p:spPr>
              <a:xfrm>
                <a:off x="3328317" y="2765975"/>
                <a:ext cx="1137300" cy="248400"/>
              </a:xfrm>
              <a:prstGeom prst="rect">
                <a:avLst/>
              </a:prstGeom>
              <a:solidFill>
                <a:srgbClr val="FDD40A"/>
              </a:solidFill>
              <a:ln cap="flat" cmpd="sng" w="9525">
                <a:solidFill>
                  <a:srgbClr val="FDD40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4" name="Google Shape;314;p43"/>
            <p:cNvSpPr txBox="1"/>
            <p:nvPr/>
          </p:nvSpPr>
          <p:spPr>
            <a:xfrm>
              <a:off x="4090175" y="3716200"/>
              <a:ext cx="1279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DD40A"/>
                  </a:solidFill>
                  <a:latin typeface="Do Hyeon"/>
                  <a:ea typeface="Do Hyeon"/>
                  <a:cs typeface="Do Hyeon"/>
                  <a:sym typeface="Do Hyeon"/>
                </a:rPr>
                <a:t>맞춤 정보</a:t>
              </a:r>
              <a:endParaRPr sz="20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/>
          <p:nvPr/>
        </p:nvSpPr>
        <p:spPr>
          <a:xfrm>
            <a:off x="3582475" y="354400"/>
            <a:ext cx="6105900" cy="61056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4"/>
          <p:cNvSpPr/>
          <p:nvPr/>
        </p:nvSpPr>
        <p:spPr>
          <a:xfrm>
            <a:off x="4522600" y="1294325"/>
            <a:ext cx="4225800" cy="422580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4"/>
          <p:cNvSpPr/>
          <p:nvPr/>
        </p:nvSpPr>
        <p:spPr>
          <a:xfrm>
            <a:off x="5177200" y="1948925"/>
            <a:ext cx="2916600" cy="2916600"/>
          </a:xfrm>
          <a:prstGeom prst="ellipse">
            <a:avLst/>
          </a:prstGeom>
          <a:solidFill>
            <a:srgbClr val="AE92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4"/>
          <p:cNvSpPr/>
          <p:nvPr/>
        </p:nvSpPr>
        <p:spPr>
          <a:xfrm>
            <a:off x="-93400" y="-76200"/>
            <a:ext cx="9374700" cy="1878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4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워크샵 목적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4" name="Google Shape;324;p44"/>
          <p:cNvSpPr txBox="1"/>
          <p:nvPr/>
        </p:nvSpPr>
        <p:spPr>
          <a:xfrm>
            <a:off x="152400" y="699850"/>
            <a:ext cx="87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누구나 쉽게 자신의 상황에 맞는 최적의 재난안전정보를 찾고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실제 재난 상황에서 도움을 받을 수 있는 디지털 서비스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325" name="Google Shape;325;p44"/>
          <p:cNvGrpSpPr/>
          <p:nvPr/>
        </p:nvGrpSpPr>
        <p:grpSpPr>
          <a:xfrm>
            <a:off x="5636069" y="2407800"/>
            <a:ext cx="1998900" cy="1998900"/>
            <a:chOff x="5947825" y="2407800"/>
            <a:chExt cx="1998900" cy="1998900"/>
          </a:xfrm>
        </p:grpSpPr>
        <p:sp>
          <p:nvSpPr>
            <p:cNvPr id="326" name="Google Shape;326;p44"/>
            <p:cNvSpPr/>
            <p:nvPr/>
          </p:nvSpPr>
          <p:spPr>
            <a:xfrm>
              <a:off x="5947825" y="2407800"/>
              <a:ext cx="1998900" cy="1998900"/>
            </a:xfrm>
            <a:prstGeom prst="ellipse">
              <a:avLst/>
            </a:prstGeom>
            <a:solidFill>
              <a:srgbClr val="FDD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4"/>
            <p:cNvSpPr txBox="1"/>
            <p:nvPr/>
          </p:nvSpPr>
          <p:spPr>
            <a:xfrm>
              <a:off x="6229975" y="3157950"/>
              <a:ext cx="14346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4000">
                  <a:latin typeface="Black Han Sans"/>
                  <a:ea typeface="Black Han Sans"/>
                  <a:cs typeface="Black Han Sans"/>
                  <a:sym typeface="Black Han Sans"/>
                </a:rPr>
                <a:t>안심이</a:t>
              </a:r>
              <a:endParaRPr sz="4000">
                <a:latin typeface="Black Han Sans"/>
                <a:ea typeface="Black Han Sans"/>
                <a:cs typeface="Black Han Sans"/>
                <a:sym typeface="Black Han Sans"/>
              </a:endParaRPr>
            </a:p>
          </p:txBody>
        </p:sp>
      </p:grpSp>
      <p:sp>
        <p:nvSpPr>
          <p:cNvPr id="328" name="Google Shape;328;p44"/>
          <p:cNvSpPr txBox="1"/>
          <p:nvPr/>
        </p:nvSpPr>
        <p:spPr>
          <a:xfrm>
            <a:off x="152400" y="2545300"/>
            <a:ext cx="5483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[어떤] </a:t>
            </a: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정보/기능이 있어야</a:t>
            </a: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할까요?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/>
          <p:nvPr/>
        </p:nvSpPr>
        <p:spPr>
          <a:xfrm>
            <a:off x="3582475" y="354400"/>
            <a:ext cx="6105900" cy="61056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5"/>
          <p:cNvSpPr/>
          <p:nvPr/>
        </p:nvSpPr>
        <p:spPr>
          <a:xfrm>
            <a:off x="4522600" y="1294325"/>
            <a:ext cx="4225800" cy="4225800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5"/>
          <p:cNvSpPr/>
          <p:nvPr/>
        </p:nvSpPr>
        <p:spPr>
          <a:xfrm>
            <a:off x="5177200" y="1948925"/>
            <a:ext cx="2916600" cy="2916600"/>
          </a:xfrm>
          <a:prstGeom prst="ellipse">
            <a:avLst/>
          </a:prstGeom>
          <a:solidFill>
            <a:srgbClr val="AE92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5"/>
          <p:cNvSpPr/>
          <p:nvPr/>
        </p:nvSpPr>
        <p:spPr>
          <a:xfrm>
            <a:off x="-93400" y="-76200"/>
            <a:ext cx="9374700" cy="1878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5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발산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152400" y="699850"/>
            <a:ext cx="87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누구나 쉽게 자신의 상황에 맞는 최적의 재난안전정보를 찾고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실제 재난 상황에서 도움을 받을 수 있는 디지털 서비스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grpSp>
        <p:nvGrpSpPr>
          <p:cNvPr id="339" name="Google Shape;339;p45"/>
          <p:cNvGrpSpPr/>
          <p:nvPr/>
        </p:nvGrpSpPr>
        <p:grpSpPr>
          <a:xfrm>
            <a:off x="5636069" y="2407800"/>
            <a:ext cx="1998900" cy="1998900"/>
            <a:chOff x="5947825" y="2407800"/>
            <a:chExt cx="1998900" cy="1998900"/>
          </a:xfrm>
        </p:grpSpPr>
        <p:sp>
          <p:nvSpPr>
            <p:cNvPr id="340" name="Google Shape;340;p45"/>
            <p:cNvSpPr/>
            <p:nvPr/>
          </p:nvSpPr>
          <p:spPr>
            <a:xfrm>
              <a:off x="5947825" y="2407800"/>
              <a:ext cx="1998900" cy="1998900"/>
            </a:xfrm>
            <a:prstGeom prst="ellipse">
              <a:avLst/>
            </a:prstGeom>
            <a:solidFill>
              <a:srgbClr val="FDD4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5"/>
            <p:cNvSpPr txBox="1"/>
            <p:nvPr/>
          </p:nvSpPr>
          <p:spPr>
            <a:xfrm>
              <a:off x="6229975" y="3157950"/>
              <a:ext cx="14346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4000">
                  <a:latin typeface="Black Han Sans"/>
                  <a:ea typeface="Black Han Sans"/>
                  <a:cs typeface="Black Han Sans"/>
                  <a:sym typeface="Black Han Sans"/>
                </a:rPr>
                <a:t>안심이</a:t>
              </a:r>
              <a:endParaRPr sz="4000">
                <a:latin typeface="Black Han Sans"/>
                <a:ea typeface="Black Han Sans"/>
                <a:cs typeface="Black Han Sans"/>
                <a:sym typeface="Black Han Sans"/>
              </a:endParaRPr>
            </a:p>
          </p:txBody>
        </p:sp>
      </p:grpSp>
      <p:sp>
        <p:nvSpPr>
          <p:cNvPr id="342" name="Google Shape;342;p45"/>
          <p:cNvSpPr/>
          <p:nvPr/>
        </p:nvSpPr>
        <p:spPr>
          <a:xfrm rot="380145">
            <a:off x="7492286" y="2120747"/>
            <a:ext cx="853614" cy="853614"/>
          </a:xfrm>
          <a:prstGeom prst="rect">
            <a:avLst/>
          </a:prstGeom>
          <a:solidFill>
            <a:srgbClr val="FDD40A"/>
          </a:solidFill>
          <a:ln>
            <a:noFill/>
          </a:ln>
          <a:effectLst>
            <a:outerShdw blurRad="1114425" rotWithShape="0" algn="bl" dir="540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5"/>
          <p:cNvSpPr/>
          <p:nvPr/>
        </p:nvSpPr>
        <p:spPr>
          <a:xfrm rot="-168004">
            <a:off x="5656413" y="1643595"/>
            <a:ext cx="853619" cy="853619"/>
          </a:xfrm>
          <a:prstGeom prst="rect">
            <a:avLst/>
          </a:prstGeom>
          <a:solidFill>
            <a:srgbClr val="FDD40A"/>
          </a:solidFill>
          <a:ln>
            <a:noFill/>
          </a:ln>
          <a:effectLst>
            <a:outerShdw blurRad="1114425" rotWithShape="0" algn="bl" dir="540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5"/>
          <p:cNvSpPr/>
          <p:nvPr/>
        </p:nvSpPr>
        <p:spPr>
          <a:xfrm rot="-168004">
            <a:off x="7712013" y="3532745"/>
            <a:ext cx="853619" cy="853619"/>
          </a:xfrm>
          <a:prstGeom prst="rect">
            <a:avLst/>
          </a:prstGeom>
          <a:solidFill>
            <a:srgbClr val="FDD40A"/>
          </a:solidFill>
          <a:ln>
            <a:noFill/>
          </a:ln>
          <a:effectLst>
            <a:outerShdw blurRad="1114425" rotWithShape="0" algn="bl" dir="540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5"/>
          <p:cNvSpPr txBox="1"/>
          <p:nvPr/>
        </p:nvSpPr>
        <p:spPr>
          <a:xfrm>
            <a:off x="152400" y="2545350"/>
            <a:ext cx="5483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자유롭게 아이디어를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발산합니다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46" name="Google Shape;346;p45"/>
          <p:cNvSpPr txBox="1"/>
          <p:nvPr/>
        </p:nvSpPr>
        <p:spPr>
          <a:xfrm>
            <a:off x="152400" y="2076250"/>
            <a:ext cx="49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[어떤] 정보/기능이 있어야 할까요?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47" name="Google Shape;347;p45"/>
          <p:cNvSpPr/>
          <p:nvPr/>
        </p:nvSpPr>
        <p:spPr>
          <a:xfrm rot="-657741">
            <a:off x="4829118" y="4012560"/>
            <a:ext cx="853474" cy="853474"/>
          </a:xfrm>
          <a:prstGeom prst="rect">
            <a:avLst/>
          </a:prstGeom>
          <a:solidFill>
            <a:srgbClr val="FDD40A"/>
          </a:solidFill>
          <a:ln>
            <a:noFill/>
          </a:ln>
          <a:effectLst>
            <a:outerShdw blurRad="1114425" rotWithShape="0" algn="bl" dir="540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5"/>
          <p:cNvSpPr/>
          <p:nvPr/>
        </p:nvSpPr>
        <p:spPr>
          <a:xfrm rot="601109">
            <a:off x="4078130" y="3627331"/>
            <a:ext cx="853616" cy="853616"/>
          </a:xfrm>
          <a:prstGeom prst="rect">
            <a:avLst/>
          </a:prstGeom>
          <a:solidFill>
            <a:srgbClr val="FDD40A"/>
          </a:solidFill>
          <a:ln>
            <a:noFill/>
          </a:ln>
          <a:effectLst>
            <a:outerShdw blurRad="1114425" rotWithShape="0" algn="bl" dir="540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/>
          <p:nvPr/>
        </p:nvSpPr>
        <p:spPr>
          <a:xfrm rot="-5400000">
            <a:off x="2822500" y="1271072"/>
            <a:ext cx="1402200" cy="726300"/>
          </a:xfrm>
          <a:prstGeom prst="leftRightArrow">
            <a:avLst>
              <a:gd fmla="val 23916" name="adj1"/>
              <a:gd fmla="val 50000" name="adj2"/>
            </a:avLst>
          </a:prstGeom>
          <a:solidFill>
            <a:srgbClr val="FDD40A"/>
          </a:solidFill>
          <a:ln cap="flat" cmpd="sng" w="9525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6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우선순위 선정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5" name="Google Shape;355;p46"/>
          <p:cNvSpPr txBox="1"/>
          <p:nvPr/>
        </p:nvSpPr>
        <p:spPr>
          <a:xfrm>
            <a:off x="648622" y="1021766"/>
            <a:ext cx="1434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highlight>
                  <a:srgbClr val="000000"/>
                </a:highlight>
                <a:latin typeface="Black Han Sans"/>
                <a:ea typeface="Black Han Sans"/>
                <a:cs typeface="Black Han Sans"/>
                <a:sym typeface="Black Han Sans"/>
              </a:rPr>
              <a:t>우선순위</a:t>
            </a:r>
            <a:endParaRPr sz="2400">
              <a:solidFill>
                <a:srgbClr val="FDD40A"/>
              </a:solidFill>
              <a:highlight>
                <a:srgbClr val="000000"/>
              </a:highlight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56" name="Google Shape;356;p46"/>
          <p:cNvSpPr txBox="1"/>
          <p:nvPr/>
        </p:nvSpPr>
        <p:spPr>
          <a:xfrm>
            <a:off x="2584001" y="1384925"/>
            <a:ext cx="187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DD40A"/>
                </a:solidFill>
                <a:highlight>
                  <a:srgbClr val="000000"/>
                </a:highlight>
                <a:latin typeface="Black Han Sans"/>
                <a:ea typeface="Black Han Sans"/>
                <a:cs typeface="Black Han Sans"/>
                <a:sym typeface="Black Han Sans"/>
              </a:rPr>
              <a:t>구현 가능성</a:t>
            </a:r>
            <a:endParaRPr sz="2400">
              <a:solidFill>
                <a:srgbClr val="FDD40A"/>
              </a:solidFill>
              <a:highlight>
                <a:srgbClr val="000000"/>
              </a:highlight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57" name="Google Shape;357;p46"/>
          <p:cNvSpPr/>
          <p:nvPr/>
        </p:nvSpPr>
        <p:spPr>
          <a:xfrm>
            <a:off x="6971625" y="761575"/>
            <a:ext cx="1740900" cy="1740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Black Han Sans"/>
                <a:ea typeface="Black Han Sans"/>
                <a:cs typeface="Black Han Sans"/>
                <a:sym typeface="Black Han Sans"/>
              </a:rPr>
              <a:t>높은 우선순위</a:t>
            </a:r>
            <a:endParaRPr sz="2400"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Black Han Sans"/>
                <a:ea typeface="Black Han Sans"/>
                <a:cs typeface="Black Han Sans"/>
                <a:sym typeface="Black Han Sans"/>
              </a:rPr>
              <a:t>높은 구현가능성</a:t>
            </a:r>
            <a:endParaRPr sz="24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58" name="Google Shape;358;p46"/>
          <p:cNvSpPr/>
          <p:nvPr/>
        </p:nvSpPr>
        <p:spPr>
          <a:xfrm>
            <a:off x="664825" y="1520372"/>
            <a:ext cx="1402200" cy="726300"/>
          </a:xfrm>
          <a:prstGeom prst="leftRightArrow">
            <a:avLst>
              <a:gd fmla="val 23916" name="adj1"/>
              <a:gd fmla="val 50000" name="adj2"/>
            </a:avLst>
          </a:prstGeom>
          <a:solidFill>
            <a:srgbClr val="FDD40A"/>
          </a:solidFill>
          <a:ln cap="flat" cmpd="sng" w="9525">
            <a:solidFill>
              <a:srgbClr val="FDD4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46"/>
          <p:cNvCxnSpPr/>
          <p:nvPr/>
        </p:nvCxnSpPr>
        <p:spPr>
          <a:xfrm>
            <a:off x="4918875" y="2571750"/>
            <a:ext cx="395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60" name="Google Shape;360;p46"/>
          <p:cNvCxnSpPr/>
          <p:nvPr/>
        </p:nvCxnSpPr>
        <p:spPr>
          <a:xfrm rot="5400000">
            <a:off x="4918875" y="2571750"/>
            <a:ext cx="395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61" name="Google Shape;361;p46"/>
          <p:cNvSpPr/>
          <p:nvPr/>
        </p:nvSpPr>
        <p:spPr>
          <a:xfrm>
            <a:off x="5078325" y="2647950"/>
            <a:ext cx="1740900" cy="1740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6971625" y="2641025"/>
            <a:ext cx="1740900" cy="1740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63" name="Google Shape;363;p46"/>
          <p:cNvSpPr/>
          <p:nvPr/>
        </p:nvSpPr>
        <p:spPr>
          <a:xfrm>
            <a:off x="5078325" y="754650"/>
            <a:ext cx="1740900" cy="1740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152400" y="2545350"/>
            <a:ext cx="6743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아이디어의 우선순위와 구현 가능성을 생각합니다</a:t>
            </a:r>
            <a:endParaRPr sz="50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 txBox="1"/>
          <p:nvPr/>
        </p:nvSpPr>
        <p:spPr>
          <a:xfrm>
            <a:off x="311700" y="23409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선정 아이디어 같이 보기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/>
        </p:nvSpPr>
        <p:spPr>
          <a:xfrm>
            <a:off x="311700" y="23409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마무리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9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활동 마무리</a:t>
            </a:r>
            <a:endParaRPr sz="10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80" name="Google Shape;3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1556" y="2059192"/>
            <a:ext cx="909030" cy="90902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9"/>
          <p:cNvSpPr txBox="1"/>
          <p:nvPr/>
        </p:nvSpPr>
        <p:spPr>
          <a:xfrm>
            <a:off x="311700" y="11118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같이 만들어요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382" name="Google Shape;382;p49"/>
          <p:cNvSpPr txBox="1"/>
          <p:nvPr/>
        </p:nvSpPr>
        <p:spPr>
          <a:xfrm>
            <a:off x="311700" y="1788150"/>
            <a:ext cx="40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코드포코리아 Discord 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#안심이 채널에서 만나요</a:t>
            </a:r>
            <a:endParaRPr sz="3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383" name="Google Shape;383;p49"/>
          <p:cNvSpPr txBox="1"/>
          <p:nvPr/>
        </p:nvSpPr>
        <p:spPr>
          <a:xfrm>
            <a:off x="5556476" y="3856700"/>
            <a:ext cx="282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https://discord.gg/yzhU9NHJ</a:t>
            </a:r>
            <a:r>
              <a:rPr lang="en" sz="1200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84" name="Google Shape;38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475" y="1062813"/>
            <a:ext cx="2536625" cy="25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