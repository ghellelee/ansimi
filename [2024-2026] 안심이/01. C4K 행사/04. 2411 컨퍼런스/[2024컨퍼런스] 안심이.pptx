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oto Sans KR"/>
      <p:regular r:id="rId20"/>
      <p:bold r:id="rId21"/>
    </p:embeddedFont>
    <p:embeddedFont>
      <p:font typeface="Do Hyeon"/>
      <p:regular r:id="rId22"/>
    </p:embeddedFont>
    <p:embeddedFont>
      <p:font typeface="Noto Sans TC"/>
      <p:regular r:id="rId23"/>
      <p:bold r:id="rId24"/>
    </p:embeddedFont>
    <p:embeddedFont>
      <p:font typeface="Black Han Sans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KR-regular.fntdata"/><Relationship Id="rId22" Type="http://schemas.openxmlformats.org/officeDocument/2006/relationships/font" Target="fonts/DoHyeon-regular.fntdata"/><Relationship Id="rId21" Type="http://schemas.openxmlformats.org/officeDocument/2006/relationships/font" Target="fonts/NotoSansKR-bold.fntdata"/><Relationship Id="rId24" Type="http://schemas.openxmlformats.org/officeDocument/2006/relationships/font" Target="fonts/NotoSansTC-bold.fntdata"/><Relationship Id="rId23" Type="http://schemas.openxmlformats.org/officeDocument/2006/relationships/font" Target="fonts/NotoSansT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BlackHa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ac084af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ac084af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ac084af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ac084af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ac084aff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0ac084aff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ac084aff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0ac084aff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ac084aff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ac084af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ac084aff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0ac084aff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fc059ac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0fc059ac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fc059ac4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fc059ac4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0fc059ac4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0fc059ac4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59367b3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159367b3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0feb836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0feb836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0ac084aff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0ac084aff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0ac084aff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0ac084aff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9.jpg"/><Relationship Id="rId6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9.jpg"/><Relationship Id="rId6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9.jpg"/><Relationship Id="rId6" Type="http://schemas.openxmlformats.org/officeDocument/2006/relationships/image" Target="../media/image6.jp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hyperlink" Target="https://discord.gg/yzhU9NHJ" TargetMode="External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095475" y="868025"/>
            <a:ext cx="6875400" cy="3369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459025" y="1104292"/>
            <a:ext cx="8226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안</a:t>
            </a:r>
            <a:r>
              <a:rPr b="1" lang="en" sz="5100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安</a:t>
            </a:r>
            <a:r>
              <a:rPr lang="en" sz="141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심</a:t>
            </a:r>
            <a:r>
              <a:rPr b="1" lang="en" sz="5100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心</a:t>
            </a:r>
            <a:r>
              <a:rPr lang="en" sz="141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이</a:t>
            </a:r>
            <a:endParaRPr sz="141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58975" y="3021263"/>
            <a:ext cx="82260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사람을 생각하는 재난 안전</a:t>
            </a:r>
            <a:endParaRPr sz="43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35225" y="56232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299075" y="562324"/>
            <a:ext cx="23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oto Sans KR"/>
                <a:ea typeface="Noto Sans KR"/>
                <a:cs typeface="Noto Sans KR"/>
                <a:sym typeface="Noto Sans KR"/>
              </a:rPr>
              <a:t>시민 기술로 여는 새로운 미래 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0" name="Google Shape;60;p13"/>
          <p:cNvCxnSpPr>
            <a:stCxn id="58" idx="3"/>
            <a:endCxn id="59" idx="1"/>
          </p:cNvCxnSpPr>
          <p:nvPr/>
        </p:nvCxnSpPr>
        <p:spPr>
          <a:xfrm>
            <a:off x="2910925" y="762425"/>
            <a:ext cx="3388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150" y="1498413"/>
            <a:ext cx="1841873" cy="184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977" y="1498413"/>
            <a:ext cx="1841873" cy="18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5425" y="1155175"/>
            <a:ext cx="2833150" cy="28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08335" y="1307250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2012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522600" y="4416474"/>
            <a:ext cx="23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기술로 여는 새로운 미래 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여정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0" name="Google Shape;80;p16"/>
          <p:cNvCxnSpPr/>
          <p:nvPr/>
        </p:nvCxnSpPr>
        <p:spPr>
          <a:xfrm>
            <a:off x="-41725" y="2055150"/>
            <a:ext cx="9306300" cy="0"/>
          </a:xfrm>
          <a:prstGeom prst="straightConnector1">
            <a:avLst/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6"/>
          <p:cNvSpPr/>
          <p:nvPr/>
        </p:nvSpPr>
        <p:spPr>
          <a:xfrm rot="2700000">
            <a:off x="466945" y="191365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 rot="2700000">
            <a:off x="6919045" y="191365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 rot="2700000">
            <a:off x="4768345" y="191365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 rot="2700000">
            <a:off x="2617645" y="191365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08325" y="2304450"/>
            <a:ext cx="19287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코드나무 첫 해커톤에서 “안심병원” 프로토타입 제작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08325" y="182430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1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559025" y="182430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2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709725" y="182430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3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559033" y="2304450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정보 추가 후 “안심이”로 이름 변경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4709735" y="1307250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2014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709716" y="2304450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건강보험심사평가원 데이터 크롤링해서 지도 서비스에 반영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6860435" y="1307250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2024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6860424" y="2304450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재난 관심↑ 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코드포코리아의 프로젝트로 다시 시작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860425" y="182430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4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95" name="Google Shape;95;p16"/>
          <p:cNvSpPr/>
          <p:nvPr/>
        </p:nvSpPr>
        <p:spPr>
          <a:xfrm rot="10800000">
            <a:off x="6953275" y="1072350"/>
            <a:ext cx="214500" cy="1857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2559025" y="3060400"/>
            <a:ext cx="1834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항생제 사용 데이터,주사제 사용 데이터, 제세동기 위치, 암환자생존률, 당번약국, 건널목 교통사고, 독극물 정보 등</a:t>
            </a:r>
            <a:endParaRPr sz="1000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685800" y="2786775"/>
            <a:ext cx="7772400" cy="7386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311700" y="1788175"/>
            <a:ext cx="438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시민을 위한, 시민들이 만드는 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685800" y="2883825"/>
            <a:ext cx="7755300" cy="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“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재난을 마주하는 </a:t>
            </a:r>
            <a:r>
              <a:rPr b="1"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우리들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은 </a:t>
            </a:r>
            <a:r>
              <a:rPr b="1"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누구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이고 </a:t>
            </a:r>
            <a:r>
              <a:rPr b="1"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어떤 정보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를 </a:t>
            </a:r>
            <a:r>
              <a:rPr b="1"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필요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로 할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까요?”</a:t>
            </a:r>
            <a:endParaRPr sz="2500">
              <a:solidFill>
                <a:srgbClr val="000000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6522600" y="4416474"/>
            <a:ext cx="23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기술로 여는 새로운 미래 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11700" y="11118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사건이 아닌 사람을 중심으로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08" name="Google Shape;108;p17"/>
          <p:cNvSpPr/>
          <p:nvPr/>
        </p:nvSpPr>
        <p:spPr>
          <a:xfrm rot="5400000">
            <a:off x="4341678" y="806673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 rot="5400000">
            <a:off x="4905253" y="806673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" name="Google Shape;110;p17"/>
          <p:cNvCxnSpPr/>
          <p:nvPr/>
        </p:nvCxnSpPr>
        <p:spPr>
          <a:xfrm>
            <a:off x="4743875" y="2019000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0900" y="1829150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7"/>
          <p:cNvCxnSpPr/>
          <p:nvPr/>
        </p:nvCxnSpPr>
        <p:spPr>
          <a:xfrm>
            <a:off x="5544513" y="2019000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7"/>
          <p:cNvSpPr/>
          <p:nvPr/>
        </p:nvSpPr>
        <p:spPr>
          <a:xfrm rot="10800000">
            <a:off x="8121750" y="3514857"/>
            <a:ext cx="333900" cy="333900"/>
          </a:xfrm>
          <a:prstGeom prst="rtTriangle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5956425" y="1680475"/>
            <a:ext cx="273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재난 대응 서비스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6522600" y="4416474"/>
            <a:ext cx="23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기술로 여는 새로운 미래 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2024년 활동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311700" y="11118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시민       공적 정보 살펴보기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311700" y="17881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인식&amp;정보 니즈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3151874" y="17881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공공서비스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5992126" y="17881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공공데이터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311738" y="22498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2024.04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3151912" y="22498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2024.06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5992163" y="22498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2024.09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29" name="Google Shape;129;p18"/>
          <p:cNvCxnSpPr/>
          <p:nvPr/>
        </p:nvCxnSpPr>
        <p:spPr>
          <a:xfrm>
            <a:off x="1810875" y="1342725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0" name="Google Shape;1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900" y="1152875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18"/>
          <p:cNvCxnSpPr/>
          <p:nvPr/>
        </p:nvCxnSpPr>
        <p:spPr>
          <a:xfrm>
            <a:off x="2611513" y="1342725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8"/>
          <p:cNvSpPr txBox="1"/>
          <p:nvPr/>
        </p:nvSpPr>
        <p:spPr>
          <a:xfrm>
            <a:off x="3151900" y="2802425"/>
            <a:ext cx="2840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</a:t>
            </a: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정보</a:t>
            </a: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 앱 ‘안전디딤돌’에서 </a:t>
            </a: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제공하는 재난 </a:t>
            </a: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매뉴얼 탐색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311750" y="2802425"/>
            <a:ext cx="2840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관련 인식과 재난 대비 내용 재난 정보 앱 사용 경험과 기대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992125" y="2802425"/>
            <a:ext cx="2840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</a:t>
            </a: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살펴보며 가이드 &amp;                    재난 정보 수요자 목록 아이디어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6522600" y="4416474"/>
            <a:ext cx="23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기술로 여는 새로운 미래 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2024년 활동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2" name="Google Shape;142;p19" title="Screenshot_20240616_1210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628" y="600750"/>
            <a:ext cx="1772743" cy="394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311700" y="1111875"/>
            <a:ext cx="29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매뉴얼은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311700" y="1980450"/>
            <a:ext cx="35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어디에&gt;&gt;&gt;&gt;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384300" y="2764175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지진이 나서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집이 흔들린다 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6522600" y="4416474"/>
            <a:ext cx="23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기술로 여는 새로운 미래 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2024년 활동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3" name="Google Shape;153;p20" title="Screenshot_20240616_1210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628" y="600750"/>
            <a:ext cx="1772743" cy="394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/>
        </p:nvSpPr>
        <p:spPr>
          <a:xfrm>
            <a:off x="311700" y="1111875"/>
            <a:ext cx="29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6D5C07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매뉴얼은</a:t>
            </a:r>
            <a:endParaRPr sz="5700">
              <a:solidFill>
                <a:srgbClr val="6D5C07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311700" y="1980450"/>
            <a:ext cx="35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여기</a:t>
            </a: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에????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384300" y="2764175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6D5C07"/>
                </a:solidFill>
                <a:latin typeface="Do Hyeon"/>
                <a:ea typeface="Do Hyeon"/>
                <a:cs typeface="Do Hyeon"/>
                <a:sym typeface="Do Hyeon"/>
              </a:rPr>
              <a:t>지진이 나서</a:t>
            </a:r>
            <a:endParaRPr sz="3200">
              <a:solidFill>
                <a:srgbClr val="6D5C07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6D5C07"/>
                </a:solidFill>
                <a:latin typeface="Do Hyeon"/>
                <a:ea typeface="Do Hyeon"/>
                <a:cs typeface="Do Hyeon"/>
                <a:sym typeface="Do Hyeon"/>
              </a:rPr>
              <a:t>집이 흔들린다 </a:t>
            </a:r>
            <a:endParaRPr sz="3200">
              <a:solidFill>
                <a:srgbClr val="6D5C07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5195650" y="600750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3730925" y="1000950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3783100" y="3444875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2024년 활동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6" name="Google Shape;166;p21" title="Screenshot_20240616_1210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628" y="600750"/>
            <a:ext cx="1772743" cy="394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311700" y="1111875"/>
            <a:ext cx="29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6D5C07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매뉴얼은</a:t>
            </a:r>
            <a:endParaRPr sz="5700">
              <a:solidFill>
                <a:srgbClr val="6D5C07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311700" y="1980450"/>
            <a:ext cx="35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여기에&gt;&gt;&gt;&gt;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384300" y="2764175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6D5C07"/>
                </a:solidFill>
                <a:latin typeface="Do Hyeon"/>
                <a:ea typeface="Do Hyeon"/>
                <a:cs typeface="Do Hyeon"/>
                <a:sym typeface="Do Hyeon"/>
              </a:rPr>
              <a:t>지진이 나서</a:t>
            </a:r>
            <a:endParaRPr sz="3200">
              <a:solidFill>
                <a:srgbClr val="6D5C07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6D5C07"/>
                </a:solidFill>
                <a:latin typeface="Do Hyeon"/>
                <a:ea typeface="Do Hyeon"/>
                <a:cs typeface="Do Hyeon"/>
                <a:sym typeface="Do Hyeon"/>
              </a:rPr>
              <a:t>집이 흔들린다 </a:t>
            </a:r>
            <a:endParaRPr sz="3200">
              <a:solidFill>
                <a:srgbClr val="6D5C07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3730925" y="1000950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1" title="Screenshot_20240616_12112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375" y="600750"/>
            <a:ext cx="635191" cy="394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 title="Screenshot_20240616_121127.jpg"/>
          <p:cNvPicPr preferRelativeResize="0"/>
          <p:nvPr/>
        </p:nvPicPr>
        <p:blipFill rotWithShape="1">
          <a:blip r:embed="rId4">
            <a:alphaModFix/>
          </a:blip>
          <a:srcRect b="76802" l="70255" r="0" t="17916"/>
          <a:stretch/>
        </p:blipFill>
        <p:spPr>
          <a:xfrm>
            <a:off x="5995300" y="1205028"/>
            <a:ext cx="527300" cy="5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 title="Screenshot_20240616_12145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8900" y="600741"/>
            <a:ext cx="1772750" cy="394201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/>
          <p:nvPr/>
        </p:nvSpPr>
        <p:spPr>
          <a:xfrm>
            <a:off x="6058850" y="1295488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" name="Google Shape;175;p21"/>
          <p:cNvCxnSpPr>
            <a:endCxn id="171" idx="1"/>
          </p:cNvCxnSpPr>
          <p:nvPr/>
        </p:nvCxnSpPr>
        <p:spPr>
          <a:xfrm>
            <a:off x="4206675" y="1201050"/>
            <a:ext cx="1541700" cy="1370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1"/>
          <p:cNvCxnSpPr>
            <a:stCxn id="174" idx="6"/>
            <a:endCxn id="173" idx="1"/>
          </p:cNvCxnSpPr>
          <p:nvPr/>
        </p:nvCxnSpPr>
        <p:spPr>
          <a:xfrm>
            <a:off x="6459050" y="1495588"/>
            <a:ext cx="279900" cy="10761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1"/>
          <p:cNvSpPr/>
          <p:nvPr/>
        </p:nvSpPr>
        <p:spPr>
          <a:xfrm>
            <a:off x="6814425" y="1295475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3685625" y="438300"/>
            <a:ext cx="5036700" cy="4266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6">
            <a:alphaModFix/>
          </a:blip>
          <a:srcRect b="0" l="0" r="0" t="3082"/>
          <a:stretch/>
        </p:blipFill>
        <p:spPr>
          <a:xfrm>
            <a:off x="5097600" y="505987"/>
            <a:ext cx="1936751" cy="4169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2024년 활동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86" name="Google Shape;186;p22" title="Screenshot_20240616_1210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628" y="600750"/>
            <a:ext cx="1772743" cy="394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/>
          <p:nvPr/>
        </p:nvSpPr>
        <p:spPr>
          <a:xfrm>
            <a:off x="3730925" y="1000950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2" title="Screenshot_20240616_12112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375" y="600750"/>
            <a:ext cx="635191" cy="394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title="Screenshot_20240616_121127.jpg"/>
          <p:cNvPicPr preferRelativeResize="0"/>
          <p:nvPr/>
        </p:nvPicPr>
        <p:blipFill rotWithShape="1">
          <a:blip r:embed="rId4">
            <a:alphaModFix/>
          </a:blip>
          <a:srcRect b="76802" l="70255" r="0" t="17916"/>
          <a:stretch/>
        </p:blipFill>
        <p:spPr>
          <a:xfrm>
            <a:off x="5995300" y="1205028"/>
            <a:ext cx="527300" cy="5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 title="Screenshot_20240616_12145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8900" y="600741"/>
            <a:ext cx="1772750" cy="394201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/>
          <p:nvPr/>
        </p:nvSpPr>
        <p:spPr>
          <a:xfrm>
            <a:off x="6058850" y="1295488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2"/>
          <p:cNvCxnSpPr>
            <a:endCxn id="188" idx="1"/>
          </p:cNvCxnSpPr>
          <p:nvPr/>
        </p:nvCxnSpPr>
        <p:spPr>
          <a:xfrm>
            <a:off x="4206675" y="1201050"/>
            <a:ext cx="1541700" cy="1370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2"/>
          <p:cNvCxnSpPr>
            <a:stCxn id="191" idx="6"/>
            <a:endCxn id="190" idx="1"/>
          </p:cNvCxnSpPr>
          <p:nvPr/>
        </p:nvCxnSpPr>
        <p:spPr>
          <a:xfrm>
            <a:off x="6459050" y="1495588"/>
            <a:ext cx="279900" cy="10761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2"/>
          <p:cNvSpPr txBox="1"/>
          <p:nvPr/>
        </p:nvSpPr>
        <p:spPr>
          <a:xfrm>
            <a:off x="384300" y="70500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기대와 어떻게 다른가요? 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grpSp>
        <p:nvGrpSpPr>
          <p:cNvPr id="195" name="Google Shape;195;p22"/>
          <p:cNvGrpSpPr/>
          <p:nvPr/>
        </p:nvGrpSpPr>
        <p:grpSpPr>
          <a:xfrm>
            <a:off x="1003200" y="2622467"/>
            <a:ext cx="2497500" cy="524317"/>
            <a:chOff x="1003200" y="2571738"/>
            <a:chExt cx="2497500" cy="524317"/>
          </a:xfrm>
        </p:grpSpPr>
        <p:sp>
          <p:nvSpPr>
            <p:cNvPr id="196" name="Google Shape;196;p22"/>
            <p:cNvSpPr/>
            <p:nvPr/>
          </p:nvSpPr>
          <p:spPr>
            <a:xfrm>
              <a:off x="1003200" y="2571738"/>
              <a:ext cx="2497500" cy="368400"/>
            </a:xfrm>
            <a:prstGeom prst="rect">
              <a:avLst/>
            </a:prstGeom>
            <a:solidFill>
              <a:srgbClr val="AE9209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Do Hyeon"/>
                  <a:ea typeface="Do Hyeon"/>
                  <a:cs typeface="Do Hyeon"/>
                  <a:sym typeface="Do Hyeon"/>
                </a:rPr>
                <a:t>Too much information</a:t>
              </a:r>
              <a:endParaRPr sz="1700">
                <a:latin typeface="Do Hyeon"/>
                <a:ea typeface="Do Hyeon"/>
                <a:cs typeface="Do Hyeon"/>
                <a:sym typeface="Do Hyeon"/>
              </a:endParaRPr>
            </a:p>
          </p:txBody>
        </p:sp>
        <p:sp>
          <p:nvSpPr>
            <p:cNvPr id="197" name="Google Shape;197;p22"/>
            <p:cNvSpPr/>
            <p:nvPr/>
          </p:nvSpPr>
          <p:spPr>
            <a:xfrm rot="10800000">
              <a:off x="3334200" y="2929554"/>
              <a:ext cx="166500" cy="166500"/>
            </a:xfrm>
            <a:prstGeom prst="rtTriangle">
              <a:avLst/>
            </a:prstGeom>
            <a:solidFill>
              <a:srgbClr val="AE92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</p:grpSp>
      <p:grpSp>
        <p:nvGrpSpPr>
          <p:cNvPr id="198" name="Google Shape;198;p22"/>
          <p:cNvGrpSpPr/>
          <p:nvPr/>
        </p:nvGrpSpPr>
        <p:grpSpPr>
          <a:xfrm>
            <a:off x="507000" y="3197508"/>
            <a:ext cx="2594700" cy="524317"/>
            <a:chOff x="507000" y="3128618"/>
            <a:chExt cx="2594700" cy="524317"/>
          </a:xfrm>
        </p:grpSpPr>
        <p:sp>
          <p:nvSpPr>
            <p:cNvPr id="199" name="Google Shape;199;p22"/>
            <p:cNvSpPr/>
            <p:nvPr/>
          </p:nvSpPr>
          <p:spPr>
            <a:xfrm>
              <a:off x="507000" y="3128618"/>
              <a:ext cx="2594700" cy="368400"/>
            </a:xfrm>
            <a:prstGeom prst="rect">
              <a:avLst/>
            </a:prstGeom>
            <a:solidFill>
              <a:srgbClr val="6D5C07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Do Hyeon"/>
                  <a:ea typeface="Do Hyeon"/>
                  <a:cs typeface="Do Hyeon"/>
                  <a:sym typeface="Do Hyeon"/>
                </a:rPr>
                <a:t>그림을 넣어주면 좋겠어요</a:t>
              </a:r>
              <a:endParaRPr sz="1700">
                <a:latin typeface="Do Hyeon"/>
                <a:ea typeface="Do Hyeon"/>
                <a:cs typeface="Do Hyeon"/>
                <a:sym typeface="Do Hyeon"/>
              </a:endParaRPr>
            </a:p>
          </p:txBody>
        </p:sp>
        <p:sp>
          <p:nvSpPr>
            <p:cNvPr id="200" name="Google Shape;200;p22"/>
            <p:cNvSpPr/>
            <p:nvPr/>
          </p:nvSpPr>
          <p:spPr>
            <a:xfrm flipH="1" rot="10800000">
              <a:off x="507010" y="3486435"/>
              <a:ext cx="166500" cy="166500"/>
            </a:xfrm>
            <a:prstGeom prst="rtTriangle">
              <a:avLst/>
            </a:prstGeom>
            <a:solidFill>
              <a:srgbClr val="6D5C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</p:grpSp>
      <p:grpSp>
        <p:nvGrpSpPr>
          <p:cNvPr id="201" name="Google Shape;201;p22"/>
          <p:cNvGrpSpPr/>
          <p:nvPr/>
        </p:nvGrpSpPr>
        <p:grpSpPr>
          <a:xfrm>
            <a:off x="958500" y="3772550"/>
            <a:ext cx="2375700" cy="524304"/>
            <a:chOff x="958500" y="3694600"/>
            <a:chExt cx="2375700" cy="524304"/>
          </a:xfrm>
        </p:grpSpPr>
        <p:sp>
          <p:nvSpPr>
            <p:cNvPr id="202" name="Google Shape;202;p22"/>
            <p:cNvSpPr/>
            <p:nvPr/>
          </p:nvSpPr>
          <p:spPr>
            <a:xfrm>
              <a:off x="958500" y="3694600"/>
              <a:ext cx="2375700" cy="368400"/>
            </a:xfrm>
            <a:prstGeom prst="rect">
              <a:avLst/>
            </a:prstGeom>
            <a:solidFill>
              <a:srgbClr val="4A3E04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Do Hyeon"/>
                  <a:ea typeface="Do Hyeon"/>
                  <a:cs typeface="Do Hyeon"/>
                  <a:sym typeface="Do Hyeon"/>
                </a:rPr>
                <a:t>필요한 내용 찾기 어려워요</a:t>
              </a:r>
              <a:endParaRPr sz="1700">
                <a:latin typeface="Do Hyeon"/>
                <a:ea typeface="Do Hyeon"/>
                <a:cs typeface="Do Hyeon"/>
                <a:sym typeface="Do Hyeon"/>
              </a:endParaRPr>
            </a:p>
          </p:txBody>
        </p:sp>
        <p:sp>
          <p:nvSpPr>
            <p:cNvPr id="203" name="Google Shape;203;p22"/>
            <p:cNvSpPr/>
            <p:nvPr/>
          </p:nvSpPr>
          <p:spPr>
            <a:xfrm rot="10800000">
              <a:off x="3166410" y="4052404"/>
              <a:ext cx="166500" cy="166500"/>
            </a:xfrm>
            <a:prstGeom prst="rtTriangle">
              <a:avLst/>
            </a:prstGeom>
            <a:solidFill>
              <a:srgbClr val="4A3E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</p:grpSp>
      <p:sp>
        <p:nvSpPr>
          <p:cNvPr id="204" name="Google Shape;204;p22"/>
          <p:cNvSpPr/>
          <p:nvPr/>
        </p:nvSpPr>
        <p:spPr>
          <a:xfrm>
            <a:off x="3500700" y="419400"/>
            <a:ext cx="5221500" cy="4266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22"/>
          <p:cNvGrpSpPr/>
          <p:nvPr/>
        </p:nvGrpSpPr>
        <p:grpSpPr>
          <a:xfrm>
            <a:off x="505750" y="2047425"/>
            <a:ext cx="3479700" cy="524317"/>
            <a:chOff x="505750" y="2047425"/>
            <a:chExt cx="3479700" cy="524317"/>
          </a:xfrm>
        </p:grpSpPr>
        <p:sp>
          <p:nvSpPr>
            <p:cNvPr id="206" name="Google Shape;206;p22"/>
            <p:cNvSpPr/>
            <p:nvPr/>
          </p:nvSpPr>
          <p:spPr>
            <a:xfrm flipH="1" rot="10800000">
              <a:off x="505760" y="2405242"/>
              <a:ext cx="166500" cy="166500"/>
            </a:xfrm>
            <a:prstGeom prst="rtTriangle">
              <a:avLst/>
            </a:prstGeom>
            <a:solidFill>
              <a:srgbClr val="FDD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  <p:sp>
          <p:nvSpPr>
            <p:cNvPr id="207" name="Google Shape;207;p22"/>
            <p:cNvSpPr/>
            <p:nvPr/>
          </p:nvSpPr>
          <p:spPr>
            <a:xfrm>
              <a:off x="505750" y="2047425"/>
              <a:ext cx="3479700" cy="368400"/>
            </a:xfrm>
            <a:prstGeom prst="rect">
              <a:avLst/>
            </a:prstGeom>
            <a:solidFill>
              <a:srgbClr val="FDD40A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Do Hyeon"/>
                  <a:ea typeface="Do Hyeon"/>
                  <a:cs typeface="Do Hyeon"/>
                  <a:sym typeface="Do Hyeon"/>
                </a:rPr>
                <a:t>막막하고 위급한 상황에 비해서 너무 …</a:t>
              </a:r>
              <a:endParaRPr sz="1700">
                <a:latin typeface="Do Hyeon"/>
                <a:ea typeface="Do Hyeon"/>
                <a:cs typeface="Do Hyeon"/>
                <a:sym typeface="Do Hyeon"/>
              </a:endParaRPr>
            </a:p>
          </p:txBody>
        </p:sp>
      </p:grpSp>
      <p:pic>
        <p:nvPicPr>
          <p:cNvPr id="208" name="Google Shape;208;p22"/>
          <p:cNvPicPr preferRelativeResize="0"/>
          <p:nvPr/>
        </p:nvPicPr>
        <p:blipFill rotWithShape="1">
          <a:blip r:embed="rId6">
            <a:alphaModFix/>
          </a:blip>
          <a:srcRect b="0" l="0" r="0" t="3082"/>
          <a:stretch/>
        </p:blipFill>
        <p:spPr>
          <a:xfrm>
            <a:off x="5097600" y="505987"/>
            <a:ext cx="1936751" cy="4169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2024년 활동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5" name="Google Shape;215;p23" title="Screenshot_20240616_1210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628" y="600750"/>
            <a:ext cx="1772743" cy="394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/>
          <p:nvPr/>
        </p:nvSpPr>
        <p:spPr>
          <a:xfrm>
            <a:off x="3730925" y="1000950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23" title="Screenshot_20240616_12112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375" y="600750"/>
            <a:ext cx="635191" cy="394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title="Screenshot_20240616_121127.jpg"/>
          <p:cNvPicPr preferRelativeResize="0"/>
          <p:nvPr/>
        </p:nvPicPr>
        <p:blipFill rotWithShape="1">
          <a:blip r:embed="rId4">
            <a:alphaModFix/>
          </a:blip>
          <a:srcRect b="76802" l="70255" r="0" t="17916"/>
          <a:stretch/>
        </p:blipFill>
        <p:spPr>
          <a:xfrm>
            <a:off x="5995300" y="1205028"/>
            <a:ext cx="527300" cy="5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title="Screenshot_20240616_12145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8900" y="600741"/>
            <a:ext cx="1772750" cy="394201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/>
          <p:nvPr/>
        </p:nvSpPr>
        <p:spPr>
          <a:xfrm>
            <a:off x="6058850" y="1295488"/>
            <a:ext cx="400200" cy="400200"/>
          </a:xfrm>
          <a:prstGeom prst="ellipse">
            <a:avLst/>
          </a:prstGeom>
          <a:solidFill>
            <a:srgbClr val="FDD40A">
              <a:alpha val="45280"/>
            </a:srgbClr>
          </a:solidFill>
          <a:ln cap="flat" cmpd="sng" w="38100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23"/>
          <p:cNvCxnSpPr>
            <a:endCxn id="217" idx="1"/>
          </p:cNvCxnSpPr>
          <p:nvPr/>
        </p:nvCxnSpPr>
        <p:spPr>
          <a:xfrm>
            <a:off x="4206675" y="1201050"/>
            <a:ext cx="1541700" cy="1370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3"/>
          <p:cNvCxnSpPr>
            <a:stCxn id="220" idx="6"/>
            <a:endCxn id="219" idx="1"/>
          </p:cNvCxnSpPr>
          <p:nvPr/>
        </p:nvCxnSpPr>
        <p:spPr>
          <a:xfrm>
            <a:off x="6459050" y="1495588"/>
            <a:ext cx="279900" cy="10761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3"/>
          <p:cNvSpPr txBox="1"/>
          <p:nvPr/>
        </p:nvSpPr>
        <p:spPr>
          <a:xfrm>
            <a:off x="384300" y="70500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기대와 어떻게 다른가요? 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grpSp>
        <p:nvGrpSpPr>
          <p:cNvPr id="224" name="Google Shape;224;p23"/>
          <p:cNvGrpSpPr/>
          <p:nvPr/>
        </p:nvGrpSpPr>
        <p:grpSpPr>
          <a:xfrm>
            <a:off x="1003200" y="2622467"/>
            <a:ext cx="2497500" cy="524317"/>
            <a:chOff x="1003200" y="2571738"/>
            <a:chExt cx="2497500" cy="524317"/>
          </a:xfrm>
        </p:grpSpPr>
        <p:sp>
          <p:nvSpPr>
            <p:cNvPr id="225" name="Google Shape;225;p23"/>
            <p:cNvSpPr/>
            <p:nvPr/>
          </p:nvSpPr>
          <p:spPr>
            <a:xfrm>
              <a:off x="1003200" y="2571738"/>
              <a:ext cx="2497500" cy="368400"/>
            </a:xfrm>
            <a:prstGeom prst="rect">
              <a:avLst/>
            </a:prstGeom>
            <a:solidFill>
              <a:srgbClr val="AE9209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Do Hyeon"/>
                  <a:ea typeface="Do Hyeon"/>
                  <a:cs typeface="Do Hyeon"/>
                  <a:sym typeface="Do Hyeon"/>
                </a:rPr>
                <a:t>Too much information</a:t>
              </a:r>
              <a:endParaRPr sz="1700">
                <a:latin typeface="Do Hyeon"/>
                <a:ea typeface="Do Hyeon"/>
                <a:cs typeface="Do Hyeon"/>
                <a:sym typeface="Do Hyeon"/>
              </a:endParaRPr>
            </a:p>
          </p:txBody>
        </p:sp>
        <p:sp>
          <p:nvSpPr>
            <p:cNvPr id="226" name="Google Shape;226;p23"/>
            <p:cNvSpPr/>
            <p:nvPr/>
          </p:nvSpPr>
          <p:spPr>
            <a:xfrm rot="10800000">
              <a:off x="3334200" y="2929554"/>
              <a:ext cx="166500" cy="166500"/>
            </a:xfrm>
            <a:prstGeom prst="rtTriangle">
              <a:avLst/>
            </a:prstGeom>
            <a:solidFill>
              <a:srgbClr val="AE92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</p:grpSp>
      <p:grpSp>
        <p:nvGrpSpPr>
          <p:cNvPr id="227" name="Google Shape;227;p23"/>
          <p:cNvGrpSpPr/>
          <p:nvPr/>
        </p:nvGrpSpPr>
        <p:grpSpPr>
          <a:xfrm>
            <a:off x="507000" y="3197508"/>
            <a:ext cx="2594700" cy="524317"/>
            <a:chOff x="507000" y="3128618"/>
            <a:chExt cx="2594700" cy="524317"/>
          </a:xfrm>
        </p:grpSpPr>
        <p:sp>
          <p:nvSpPr>
            <p:cNvPr id="228" name="Google Shape;228;p23"/>
            <p:cNvSpPr/>
            <p:nvPr/>
          </p:nvSpPr>
          <p:spPr>
            <a:xfrm>
              <a:off x="507000" y="3128618"/>
              <a:ext cx="2594700" cy="368400"/>
            </a:xfrm>
            <a:prstGeom prst="rect">
              <a:avLst/>
            </a:prstGeom>
            <a:solidFill>
              <a:srgbClr val="6D5C07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Do Hyeon"/>
                  <a:ea typeface="Do Hyeon"/>
                  <a:cs typeface="Do Hyeon"/>
                  <a:sym typeface="Do Hyeon"/>
                </a:rPr>
                <a:t>그림을 넣어주면 좋겠어요</a:t>
              </a:r>
              <a:endParaRPr sz="1700">
                <a:latin typeface="Do Hyeon"/>
                <a:ea typeface="Do Hyeon"/>
                <a:cs typeface="Do Hyeon"/>
                <a:sym typeface="Do Hyeon"/>
              </a:endParaRPr>
            </a:p>
          </p:txBody>
        </p:sp>
        <p:sp>
          <p:nvSpPr>
            <p:cNvPr id="229" name="Google Shape;229;p23"/>
            <p:cNvSpPr/>
            <p:nvPr/>
          </p:nvSpPr>
          <p:spPr>
            <a:xfrm flipH="1" rot="10800000">
              <a:off x="507010" y="3486435"/>
              <a:ext cx="166500" cy="166500"/>
            </a:xfrm>
            <a:prstGeom prst="rtTriangle">
              <a:avLst/>
            </a:prstGeom>
            <a:solidFill>
              <a:srgbClr val="6D5C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</p:grpSp>
      <p:pic>
        <p:nvPicPr>
          <p:cNvPr id="230" name="Google Shape;230;p23"/>
          <p:cNvPicPr preferRelativeResize="0"/>
          <p:nvPr/>
        </p:nvPicPr>
        <p:blipFill rotWithShape="1">
          <a:blip r:embed="rId6">
            <a:alphaModFix/>
          </a:blip>
          <a:srcRect b="0" l="0" r="0" t="3082"/>
          <a:stretch/>
        </p:blipFill>
        <p:spPr>
          <a:xfrm>
            <a:off x="5097600" y="487087"/>
            <a:ext cx="1936751" cy="4169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1" name="Google Shape;231;p23"/>
          <p:cNvSpPr/>
          <p:nvPr/>
        </p:nvSpPr>
        <p:spPr>
          <a:xfrm>
            <a:off x="3500700" y="419400"/>
            <a:ext cx="5221500" cy="42669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3"/>
          <p:cNvGrpSpPr/>
          <p:nvPr/>
        </p:nvGrpSpPr>
        <p:grpSpPr>
          <a:xfrm>
            <a:off x="505750" y="2047425"/>
            <a:ext cx="3479700" cy="524317"/>
            <a:chOff x="505750" y="2047425"/>
            <a:chExt cx="3479700" cy="524317"/>
          </a:xfrm>
        </p:grpSpPr>
        <p:sp>
          <p:nvSpPr>
            <p:cNvPr id="233" name="Google Shape;233;p23"/>
            <p:cNvSpPr/>
            <p:nvPr/>
          </p:nvSpPr>
          <p:spPr>
            <a:xfrm flipH="1" rot="10800000">
              <a:off x="505760" y="2405242"/>
              <a:ext cx="166500" cy="166500"/>
            </a:xfrm>
            <a:prstGeom prst="rtTriangle">
              <a:avLst/>
            </a:prstGeom>
            <a:solidFill>
              <a:srgbClr val="FDD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  <p:sp>
          <p:nvSpPr>
            <p:cNvPr id="234" name="Google Shape;234;p23"/>
            <p:cNvSpPr/>
            <p:nvPr/>
          </p:nvSpPr>
          <p:spPr>
            <a:xfrm>
              <a:off x="505750" y="2047425"/>
              <a:ext cx="3479700" cy="368400"/>
            </a:xfrm>
            <a:prstGeom prst="rect">
              <a:avLst/>
            </a:prstGeom>
            <a:solidFill>
              <a:srgbClr val="FDD40A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Do Hyeon"/>
                  <a:ea typeface="Do Hyeon"/>
                  <a:cs typeface="Do Hyeon"/>
                  <a:sym typeface="Do Hyeon"/>
                </a:rPr>
                <a:t>막막하고 위급한 상황에 비해서 너무 …</a:t>
              </a:r>
              <a:endParaRPr sz="1700">
                <a:latin typeface="Do Hyeon"/>
                <a:ea typeface="Do Hyeon"/>
                <a:cs typeface="Do Hyeon"/>
                <a:sym typeface="Do Hyeon"/>
              </a:endParaRPr>
            </a:p>
          </p:txBody>
        </p:sp>
      </p:grpSp>
      <p:sp>
        <p:nvSpPr>
          <p:cNvPr id="235" name="Google Shape;235;p23"/>
          <p:cNvSpPr/>
          <p:nvPr/>
        </p:nvSpPr>
        <p:spPr>
          <a:xfrm rot="5400000">
            <a:off x="4371900" y="2398650"/>
            <a:ext cx="400200" cy="346200"/>
          </a:xfrm>
          <a:prstGeom prst="triangle">
            <a:avLst>
              <a:gd fmla="val 50000" name="adj"/>
            </a:avLst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23"/>
          <p:cNvGrpSpPr/>
          <p:nvPr/>
        </p:nvGrpSpPr>
        <p:grpSpPr>
          <a:xfrm>
            <a:off x="958500" y="3772550"/>
            <a:ext cx="2375700" cy="524304"/>
            <a:chOff x="958500" y="3694600"/>
            <a:chExt cx="2375700" cy="524304"/>
          </a:xfrm>
        </p:grpSpPr>
        <p:sp>
          <p:nvSpPr>
            <p:cNvPr id="237" name="Google Shape;237;p23"/>
            <p:cNvSpPr/>
            <p:nvPr/>
          </p:nvSpPr>
          <p:spPr>
            <a:xfrm>
              <a:off x="958500" y="3694600"/>
              <a:ext cx="2375700" cy="368400"/>
            </a:xfrm>
            <a:prstGeom prst="rect">
              <a:avLst/>
            </a:prstGeom>
            <a:solidFill>
              <a:srgbClr val="4A3E04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Do Hyeon"/>
                  <a:ea typeface="Do Hyeon"/>
                  <a:cs typeface="Do Hyeon"/>
                  <a:sym typeface="Do Hyeon"/>
                </a:rPr>
                <a:t>필요한 내용 찾기 어려워요</a:t>
              </a:r>
              <a:endParaRPr sz="1700">
                <a:latin typeface="Do Hyeon"/>
                <a:ea typeface="Do Hyeon"/>
                <a:cs typeface="Do Hyeon"/>
                <a:sym typeface="Do Hyeon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 rot="10800000">
              <a:off x="3166410" y="4052404"/>
              <a:ext cx="166500" cy="166500"/>
            </a:xfrm>
            <a:prstGeom prst="rtTriangle">
              <a:avLst/>
            </a:prstGeom>
            <a:solidFill>
              <a:srgbClr val="4A3E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/>
            </a:p>
          </p:txBody>
        </p:sp>
      </p:grpSp>
      <p:sp>
        <p:nvSpPr>
          <p:cNvPr id="239" name="Google Shape;239;p23"/>
          <p:cNvSpPr txBox="1"/>
          <p:nvPr/>
        </p:nvSpPr>
        <p:spPr>
          <a:xfrm>
            <a:off x="4968350" y="705000"/>
            <a:ext cx="388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나와 우리 모두를 위한 재난 매뉴얼에는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무엇이 필요할까요?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pic>
        <p:nvPicPr>
          <p:cNvPr id="240" name="Google Shape;24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8850" y="2571700"/>
            <a:ext cx="2798449" cy="1725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41" name="Google Shape;24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43300" y="2975675"/>
            <a:ext cx="2840099" cy="15149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692" y="2591828"/>
            <a:ext cx="1224925" cy="172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0045" y="2670876"/>
            <a:ext cx="1224921" cy="1728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48" name="Google Shape;248;p24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6522600" y="4416474"/>
            <a:ext cx="23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기술로 여는 새로운 미래 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2024년 활동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384300" y="1851850"/>
            <a:ext cx="381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데이터 품질 평가 가이드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5122625" y="18518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수요자 목록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311700" y="11118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공공데이터</a:t>
            </a: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      </a:t>
            </a: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수요자</a:t>
            </a: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탐색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cxnSp>
        <p:nvCxnSpPr>
          <p:cNvPr id="254" name="Google Shape;254;p24"/>
          <p:cNvCxnSpPr/>
          <p:nvPr/>
        </p:nvCxnSpPr>
        <p:spPr>
          <a:xfrm>
            <a:off x="3736741" y="1342725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5" name="Google Shape;25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3766" y="1152875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24"/>
          <p:cNvCxnSpPr/>
          <p:nvPr/>
        </p:nvCxnSpPr>
        <p:spPr>
          <a:xfrm>
            <a:off x="4537379" y="1342725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7" name="Google Shape;25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200" y="2591825"/>
            <a:ext cx="3819900" cy="133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6025" y="3080255"/>
            <a:ext cx="3833357" cy="1336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59" name="Google Shape;259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65396" y="2591825"/>
            <a:ext cx="1190400" cy="172838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0" name="Google Shape;260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56225" y="2653650"/>
            <a:ext cx="1190400" cy="1762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61" name="Google Shape;261;p24"/>
          <p:cNvSpPr/>
          <p:nvPr/>
        </p:nvSpPr>
        <p:spPr>
          <a:xfrm>
            <a:off x="1016150" y="3271825"/>
            <a:ext cx="3167100" cy="36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가이드 v1. 기반 24개 공공데이터 평가</a:t>
            </a:r>
            <a:endParaRPr sz="17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5320850" y="3271825"/>
            <a:ext cx="3167100" cy="36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활동에서 18개 분류 113개 목록 작성</a:t>
            </a:r>
            <a:endParaRPr sz="17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6522600" y="4416474"/>
            <a:ext cx="23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기술로 여는 새로운 미래 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2025년 계획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311700" y="11118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통합재난대응데이터</a:t>
            </a:r>
            <a:endParaRPr sz="6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311700" y="17881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데이터셋 항목을 구체적 정의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6101250" y="113254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에 필요한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6240600" y="2596488"/>
            <a:ext cx="2497500" cy="3684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Do Hyeon"/>
                <a:ea typeface="Do Hyeon"/>
                <a:cs typeface="Do Hyeon"/>
                <a:sym typeface="Do Hyeon"/>
              </a:rPr>
              <a:t>~에게 특히 필요한 정보는?</a:t>
            </a:r>
            <a:endParaRPr sz="17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74" name="Google Shape;274;p25"/>
          <p:cNvSpPr/>
          <p:nvPr/>
        </p:nvSpPr>
        <p:spPr>
          <a:xfrm rot="10800000">
            <a:off x="8570185" y="2954304"/>
            <a:ext cx="166500" cy="166500"/>
          </a:xfrm>
          <a:prstGeom prst="rtTriangle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5" name="Google Shape;275;p25"/>
          <p:cNvSpPr/>
          <p:nvPr/>
        </p:nvSpPr>
        <p:spPr>
          <a:xfrm>
            <a:off x="505746" y="2495550"/>
            <a:ext cx="3875400" cy="3684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Do Hyeon"/>
                <a:ea typeface="Do Hyeon"/>
                <a:cs typeface="Do Hyeon"/>
                <a:sym typeface="Do Hyeon"/>
              </a:rPr>
              <a:t>언제나 누구에게나 공통적으로 필요한 정보는?</a:t>
            </a:r>
            <a:endParaRPr sz="17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76" name="Google Shape;276;p25"/>
          <p:cNvSpPr/>
          <p:nvPr/>
        </p:nvSpPr>
        <p:spPr>
          <a:xfrm flipH="1" rot="10800000">
            <a:off x="505760" y="2853367"/>
            <a:ext cx="166500" cy="166500"/>
          </a:xfrm>
          <a:prstGeom prst="rtTriangle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7" name="Google Shape;277;p25"/>
          <p:cNvSpPr/>
          <p:nvPr/>
        </p:nvSpPr>
        <p:spPr>
          <a:xfrm>
            <a:off x="1388725" y="3128618"/>
            <a:ext cx="2594700" cy="368400"/>
          </a:xfrm>
          <a:prstGeom prst="rect">
            <a:avLst/>
          </a:prstGeom>
          <a:solidFill>
            <a:srgbClr val="AE9209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Do Hyeon"/>
                <a:ea typeface="Do Hyeon"/>
                <a:cs typeface="Do Hyeon"/>
                <a:sym typeface="Do Hyeon"/>
              </a:rPr>
              <a:t>재난 상황별로 필요한 정보는?</a:t>
            </a:r>
            <a:endParaRPr sz="17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78" name="Google Shape;278;p25"/>
          <p:cNvSpPr/>
          <p:nvPr/>
        </p:nvSpPr>
        <p:spPr>
          <a:xfrm flipH="1" rot="10800000">
            <a:off x="1388735" y="3486435"/>
            <a:ext cx="166500" cy="166500"/>
          </a:xfrm>
          <a:prstGeom prst="rtTriangle">
            <a:avLst/>
          </a:prstGeom>
          <a:solidFill>
            <a:srgbClr val="AE92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9" name="Google Shape;279;p25"/>
          <p:cNvSpPr/>
          <p:nvPr/>
        </p:nvSpPr>
        <p:spPr>
          <a:xfrm>
            <a:off x="4836500" y="3273200"/>
            <a:ext cx="3415800" cy="368400"/>
          </a:xfrm>
          <a:prstGeom prst="rect">
            <a:avLst/>
          </a:prstGeom>
          <a:solidFill>
            <a:srgbClr val="6D5C07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Do Hyeon"/>
                <a:ea typeface="Do Hyeon"/>
                <a:cs typeface="Do Hyeon"/>
                <a:sym typeface="Do Hyeon"/>
              </a:rPr>
              <a:t>필요한데 제공되고 있지 않은 정보는?</a:t>
            </a:r>
            <a:endParaRPr sz="17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80" name="Google Shape;280;p25"/>
          <p:cNvSpPr/>
          <p:nvPr/>
        </p:nvSpPr>
        <p:spPr>
          <a:xfrm rot="10800000">
            <a:off x="8084510" y="3631004"/>
            <a:ext cx="166500" cy="166500"/>
          </a:xfrm>
          <a:prstGeom prst="rtTriangle">
            <a:avLst/>
          </a:prstGeom>
          <a:solidFill>
            <a:srgbClr val="6D5C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1" name="Google Shape;281;p25"/>
          <p:cNvSpPr/>
          <p:nvPr/>
        </p:nvSpPr>
        <p:spPr>
          <a:xfrm>
            <a:off x="2325575" y="3852775"/>
            <a:ext cx="3415800" cy="368400"/>
          </a:xfrm>
          <a:prstGeom prst="rect">
            <a:avLst/>
          </a:prstGeom>
          <a:solidFill>
            <a:srgbClr val="4A3E04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Do Hyeon"/>
                <a:ea typeface="Do Hyeon"/>
                <a:cs typeface="Do Hyeon"/>
                <a:sym typeface="Do Hyeon"/>
              </a:rPr>
              <a:t>나중에 필요하게 될 것 같은 정보는?</a:t>
            </a:r>
            <a:endParaRPr sz="17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82" name="Google Shape;282;p25"/>
          <p:cNvSpPr/>
          <p:nvPr/>
        </p:nvSpPr>
        <p:spPr>
          <a:xfrm rot="10800000">
            <a:off x="5573585" y="4210579"/>
            <a:ext cx="166500" cy="166500"/>
          </a:xfrm>
          <a:prstGeom prst="rtTriangle">
            <a:avLst/>
          </a:prstGeom>
          <a:solidFill>
            <a:srgbClr val="4A3E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3" name="Google Shape;283;p25"/>
          <p:cNvSpPr/>
          <p:nvPr/>
        </p:nvSpPr>
        <p:spPr>
          <a:xfrm rot="5400000">
            <a:off x="713253" y="806673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 rot="5400000">
            <a:off x="1276828" y="806673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5" name="Google Shape;285;p25"/>
          <p:cNvCxnSpPr/>
          <p:nvPr/>
        </p:nvCxnSpPr>
        <p:spPr>
          <a:xfrm>
            <a:off x="4657550" y="2019000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6" name="Google Shape;2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4575" y="1829150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25"/>
          <p:cNvCxnSpPr/>
          <p:nvPr/>
        </p:nvCxnSpPr>
        <p:spPr>
          <a:xfrm>
            <a:off x="5458188" y="2019000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5"/>
          <p:cNvSpPr txBox="1"/>
          <p:nvPr/>
        </p:nvSpPr>
        <p:spPr>
          <a:xfrm>
            <a:off x="6098700" y="1680475"/>
            <a:ext cx="273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제공 방식 고민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/>
        </p:nvSpPr>
        <p:spPr>
          <a:xfrm>
            <a:off x="311700" y="441647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 코드포코리아 컨퍼런스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6522600" y="4416474"/>
            <a:ext cx="23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기술로 여는 새로운 미래 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오세요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9556675" y="875713"/>
            <a:ext cx="3495300" cy="327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밋앤핵 현장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재난 대비 니즈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재난 시 본인의 역할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41556" y="2059192"/>
            <a:ext cx="909030" cy="90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/>
          <p:cNvPicPr preferRelativeResize="0"/>
          <p:nvPr/>
        </p:nvPicPr>
        <p:blipFill rotWithShape="1">
          <a:blip r:embed="rId4">
            <a:alphaModFix/>
          </a:blip>
          <a:srcRect b="40284" l="0" r="0" t="0"/>
          <a:stretch/>
        </p:blipFill>
        <p:spPr>
          <a:xfrm>
            <a:off x="-1361425" y="1849650"/>
            <a:ext cx="948749" cy="47195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311700" y="11118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같이 만들어요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311700" y="1788150"/>
            <a:ext cx="40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코드포코리아 Discord 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#안심이 채널에서 만나요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301" name="Google Shape;301;p26"/>
          <p:cNvSpPr txBox="1"/>
          <p:nvPr/>
        </p:nvSpPr>
        <p:spPr>
          <a:xfrm>
            <a:off x="5556476" y="3856700"/>
            <a:ext cx="282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https://discord.gg/yzhU9NHJ</a:t>
            </a:r>
            <a:r>
              <a:rPr lang="en" sz="1200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02" name="Google Shape;30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6475" y="1062813"/>
            <a:ext cx="2536625" cy="25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