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Noto Sans KR"/>
      <p:regular r:id="rId19"/>
      <p:bold r:id="rId20"/>
    </p:embeddedFont>
    <p:embeddedFont>
      <p:font typeface="Bebas Neue"/>
      <p:regular r:id="rId21"/>
    </p:embeddedFont>
    <p:embeddedFont>
      <p:font typeface="Gothic A1"/>
      <p:regular r:id="rId22"/>
      <p:bold r:id="rId23"/>
    </p:embeddedFont>
    <p:embeddedFont>
      <p:font typeface="Black Han Sans"/>
      <p:regular r:id="rId24"/>
    </p:embeddedFont>
    <p:embeddedFont>
      <p:font typeface="Nanum Pen Script"/>
      <p:regular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otoSansKR-bold.fntdata"/><Relationship Id="rId22" Type="http://schemas.openxmlformats.org/officeDocument/2006/relationships/font" Target="fonts/GothicA1-regular.fntdata"/><Relationship Id="rId21" Type="http://schemas.openxmlformats.org/officeDocument/2006/relationships/font" Target="fonts/BebasNeue-regular.fntdata"/><Relationship Id="rId24" Type="http://schemas.openxmlformats.org/officeDocument/2006/relationships/font" Target="fonts/BlackHanSans-regular.fntdata"/><Relationship Id="rId23" Type="http://schemas.openxmlformats.org/officeDocument/2006/relationships/font" Target="fonts/GothicA1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NanumPenScrip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NotoSansKR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fd8652d5c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fd8652d5c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fdf9dad5a1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fdf9dad5a1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fd8652d5cd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fd8652d5c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fd8652d5c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fd8652d5c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f8597741c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f8597741c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fe6a5d230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fe6a5d230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fd8652d5cd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fd8652d5c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0024885249_2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0024885249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f8597741c3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f8597741c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002488524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002488524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f8597741c3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f8597741c3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f8597741c3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f8597741c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mentimeter.com/app/presentation/n/al6htns9durs1w6b65ubc4jn2w3vp8d8/present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safetydata.go.kr/" TargetMode="External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safetydata.go.kr/" TargetMode="External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-782735" y="232050"/>
            <a:ext cx="10901700" cy="458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500">
                <a:solidFill>
                  <a:srgbClr val="FFFF00"/>
                </a:solidFill>
                <a:latin typeface="Noto Sans KR"/>
                <a:ea typeface="Noto Sans KR"/>
                <a:cs typeface="Noto Sans KR"/>
                <a:sym typeface="Noto Sans KR"/>
              </a:rPr>
              <a:t>안심이</a:t>
            </a:r>
            <a:endParaRPr sz="26500">
              <a:solidFill>
                <a:srgbClr val="FFFF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" name="Google Shape;55;p13"/>
          <p:cNvSpPr txBox="1"/>
          <p:nvPr/>
        </p:nvSpPr>
        <p:spPr>
          <a:xfrm rot="-322968">
            <a:off x="-711181" y="3899706"/>
            <a:ext cx="10566095" cy="55410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Bebas Neue"/>
                <a:ea typeface="Bebas Neue"/>
                <a:cs typeface="Bebas Neue"/>
                <a:sym typeface="Bebas Neue"/>
              </a:rPr>
              <a:t>sorry Better safe than sorry Better safe than sorry Better safe than sorry </a:t>
            </a:r>
            <a:r>
              <a:rPr lang="en"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Better safe than </a:t>
            </a:r>
            <a:endParaRPr sz="2400"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56" name="Google Shape;56;p13"/>
          <p:cNvSpPr txBox="1"/>
          <p:nvPr/>
        </p:nvSpPr>
        <p:spPr>
          <a:xfrm rot="691402">
            <a:off x="-615008" y="967723"/>
            <a:ext cx="10566281" cy="5542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Bebas Neue"/>
                <a:ea typeface="Bebas Neue"/>
                <a:cs typeface="Bebas Neue"/>
                <a:sym typeface="Bebas Neue"/>
              </a:rPr>
              <a:t>Better safe than sorry Better safe than sorry Better safe than sorry Better safe than sorry</a:t>
            </a:r>
            <a:endParaRPr sz="2400"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57" name="Google Shape;57;p13"/>
          <p:cNvSpPr txBox="1"/>
          <p:nvPr/>
        </p:nvSpPr>
        <p:spPr>
          <a:xfrm rot="-2033965">
            <a:off x="-1437050" y="2161710"/>
            <a:ext cx="10566277" cy="55431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Bebas Neue"/>
                <a:ea typeface="Bebas Neue"/>
                <a:cs typeface="Bebas Neue"/>
                <a:sym typeface="Bebas Neue"/>
              </a:rPr>
              <a:t>safe than sorry Better safe than sorry Better safe than sorry Better safe than sorry </a:t>
            </a:r>
            <a:r>
              <a:rPr lang="en"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Better </a:t>
            </a:r>
            <a:endParaRPr sz="2400"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3056475" y="-60600"/>
            <a:ext cx="6160200" cy="52581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-1206850" y="64650"/>
            <a:ext cx="1048800" cy="115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지난 밋앤핵 결과 공유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4월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재난 경험, 인식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152400" y="152400"/>
            <a:ext cx="241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지난 밋앤핵 결과 | 4월</a:t>
            </a:r>
            <a:endParaRPr sz="10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304800" y="1890875"/>
            <a:ext cx="24123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무엇이 </a:t>
            </a:r>
            <a:endParaRPr b="1" sz="16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 lang="en" sz="16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가장 먼저 떠오르나요?</a:t>
            </a:r>
            <a:endParaRPr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304800" y="2645063"/>
            <a:ext cx="28839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재난이 발생한다면 </a:t>
            </a:r>
            <a:endParaRPr b="1" sz="1600">
              <a:solidFill>
                <a:srgbClr val="CCCCCC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 lang="en" sz="1600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어떤 점이 가장 걱정되나요?</a:t>
            </a:r>
            <a:endParaRPr b="1" sz="1600">
              <a:solidFill>
                <a:srgbClr val="CCCCC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304800" y="3399275"/>
            <a:ext cx="28839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평소 재난에 대비하기 위해 </a:t>
            </a:r>
            <a:endParaRPr b="1" sz="16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 lang="en" sz="16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하고 있는 것이 있나요?</a:t>
            </a:r>
            <a:endParaRPr b="1" sz="16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304800" y="4153475"/>
            <a:ext cx="28839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알고 있거나 사용해 본 </a:t>
            </a:r>
            <a:endParaRPr b="1" sz="16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 lang="en" sz="16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재난 정보 앱이 있나요?</a:t>
            </a:r>
            <a:endParaRPr b="1" sz="16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152400" y="491088"/>
            <a:ext cx="3000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0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재난</a:t>
            </a:r>
            <a:endParaRPr sz="9600">
              <a:solidFill>
                <a:srgbClr val="FFFF00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3243900" y="311875"/>
            <a:ext cx="3408300" cy="4653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7F6000"/>
                </a:solidFill>
                <a:latin typeface="Noto Sans KR"/>
                <a:ea typeface="Noto Sans KR"/>
                <a:cs typeface="Noto Sans KR"/>
                <a:sym typeface="Noto Sans KR"/>
              </a:rPr>
              <a:t>재난 정보 앱에 어떤 기능이 있을 것 같나요?</a:t>
            </a:r>
            <a:endParaRPr b="1">
              <a:solidFill>
                <a:srgbClr val="7F6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7111825" y="929575"/>
            <a:ext cx="1858200" cy="4002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73763"/>
                </a:solidFill>
                <a:latin typeface="Noto Sans KR"/>
                <a:ea typeface="Noto Sans KR"/>
                <a:cs typeface="Noto Sans KR"/>
                <a:sym typeface="Noto Sans KR"/>
              </a:rPr>
              <a:t>매뉴얼이 있을 것 같다</a:t>
            </a:r>
            <a:endParaRPr b="1">
              <a:solidFill>
                <a:srgbClr val="07376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2" name="Google Shape;72;p14"/>
          <p:cNvSpPr/>
          <p:nvPr/>
        </p:nvSpPr>
        <p:spPr>
          <a:xfrm>
            <a:off x="3243900" y="1482175"/>
            <a:ext cx="3408300" cy="6273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7F6000"/>
                </a:solidFill>
                <a:latin typeface="Noto Sans KR"/>
                <a:ea typeface="Noto Sans KR"/>
                <a:cs typeface="Noto Sans KR"/>
                <a:sym typeface="Noto Sans KR"/>
              </a:rPr>
              <a:t>재난 상황에서 재난 정보 앱이 어떤 역할을 하기를 기대하나요?</a:t>
            </a:r>
            <a:endParaRPr b="1">
              <a:solidFill>
                <a:srgbClr val="7F6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4477000" y="2261875"/>
            <a:ext cx="4493100" cy="4002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73763"/>
                </a:solidFill>
                <a:latin typeface="Noto Sans KR"/>
                <a:ea typeface="Noto Sans KR"/>
                <a:cs typeface="Noto Sans KR"/>
                <a:sym typeface="Noto Sans KR"/>
              </a:rPr>
              <a:t>현행화된 매뉴얼 (실제 현장에서 적용할 수 있는 정보 포함)</a:t>
            </a:r>
            <a:endParaRPr b="1">
              <a:solidFill>
                <a:srgbClr val="07376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4" name="Google Shape;74;p14"/>
          <p:cNvSpPr/>
          <p:nvPr/>
        </p:nvSpPr>
        <p:spPr>
          <a:xfrm>
            <a:off x="5015575" y="2814475"/>
            <a:ext cx="3954300" cy="4002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73763"/>
                </a:solidFill>
                <a:latin typeface="Noto Sans KR"/>
                <a:ea typeface="Noto Sans KR"/>
                <a:cs typeface="Noto Sans KR"/>
                <a:sym typeface="Noto Sans KR"/>
              </a:rPr>
              <a:t>소통 기능. 서로 정보를 공유하거나 서로 돕는 기능.</a:t>
            </a:r>
            <a:endParaRPr b="1">
              <a:solidFill>
                <a:srgbClr val="07376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7789300" y="3346675"/>
            <a:ext cx="1180800" cy="4002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73763"/>
                </a:solidFill>
                <a:latin typeface="Noto Sans KR"/>
                <a:ea typeface="Noto Sans KR"/>
                <a:cs typeface="Noto Sans KR"/>
                <a:sym typeface="Noto Sans KR"/>
              </a:rPr>
              <a:t>대피소 정보.</a:t>
            </a:r>
            <a:endParaRPr b="1">
              <a:solidFill>
                <a:srgbClr val="07376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4604925" y="3889050"/>
            <a:ext cx="4365000" cy="4002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73763"/>
                </a:solidFill>
                <a:latin typeface="Noto Sans KR"/>
                <a:ea typeface="Noto Sans KR"/>
                <a:cs typeface="Noto Sans KR"/>
                <a:sym typeface="Noto Sans KR"/>
              </a:rPr>
              <a:t>인터넷이 대체로 안 될 때를 대비한 정보 저장과 출력 기능</a:t>
            </a:r>
            <a:endParaRPr b="1">
              <a:solidFill>
                <a:srgbClr val="07376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6180275" y="4431425"/>
            <a:ext cx="2789700" cy="4002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73763"/>
                </a:solidFill>
                <a:latin typeface="Noto Sans KR"/>
                <a:ea typeface="Noto Sans KR"/>
                <a:cs typeface="Noto Sans KR"/>
                <a:sym typeface="Noto Sans KR"/>
              </a:rPr>
              <a:t>지역별 상황을 반영한 실시간 정보.</a:t>
            </a:r>
            <a:endParaRPr b="1">
              <a:solidFill>
                <a:srgbClr val="07376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/>
          <p:nvPr/>
        </p:nvSpPr>
        <p:spPr>
          <a:xfrm>
            <a:off x="3056475" y="-60600"/>
            <a:ext cx="6160200" cy="52581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-1206850" y="64650"/>
            <a:ext cx="1048800" cy="115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지난 밋앤핵 결과 공유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4월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재난 경험, 인식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152400" y="152400"/>
            <a:ext cx="241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지난 밋앤핵 결과 | 4월</a:t>
            </a:r>
            <a:endParaRPr sz="10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304800" y="1890875"/>
            <a:ext cx="24123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무엇이 </a:t>
            </a:r>
            <a:endParaRPr b="1" sz="16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 lang="en" sz="16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가장 먼저 떠오르나요?</a:t>
            </a:r>
            <a:endParaRPr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304800" y="2645063"/>
            <a:ext cx="28839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재난이 발생한다면 </a:t>
            </a:r>
            <a:endParaRPr b="1" sz="1600">
              <a:solidFill>
                <a:srgbClr val="CCCCCC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 lang="en" sz="1600">
                <a:solidFill>
                  <a:srgbClr val="CCCCCC"/>
                </a:solidFill>
                <a:latin typeface="Noto Sans KR"/>
                <a:ea typeface="Noto Sans KR"/>
                <a:cs typeface="Noto Sans KR"/>
                <a:sym typeface="Noto Sans KR"/>
              </a:rPr>
              <a:t>어떤 점이 가장 걱정되나요?</a:t>
            </a:r>
            <a:endParaRPr b="1" sz="1600">
              <a:solidFill>
                <a:srgbClr val="CCCCCC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304800" y="3399275"/>
            <a:ext cx="28839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평소 재난에 대비하기 위해 </a:t>
            </a:r>
            <a:endParaRPr b="1" sz="16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 lang="en" sz="1600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하고 있는 것이 있나요?</a:t>
            </a:r>
            <a:endParaRPr b="1" sz="1600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304800" y="4153475"/>
            <a:ext cx="28839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알고 있거나 사용해 본 </a:t>
            </a:r>
            <a:endParaRPr b="1" sz="16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 lang="en" sz="16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재난 정보 앱이 있나요?</a:t>
            </a:r>
            <a:endParaRPr b="1" sz="16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9" name="Google Shape;89;p15"/>
          <p:cNvSpPr txBox="1"/>
          <p:nvPr/>
        </p:nvSpPr>
        <p:spPr>
          <a:xfrm>
            <a:off x="152400" y="491088"/>
            <a:ext cx="3000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999999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재난</a:t>
            </a:r>
            <a:endParaRPr sz="9600">
              <a:solidFill>
                <a:srgbClr val="999999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90" name="Google Shape;90;p15"/>
          <p:cNvSpPr/>
          <p:nvPr/>
        </p:nvSpPr>
        <p:spPr>
          <a:xfrm>
            <a:off x="3243900" y="311875"/>
            <a:ext cx="3408300" cy="465300"/>
          </a:xfrm>
          <a:prstGeom prst="roundRect">
            <a:avLst>
              <a:gd fmla="val 16667" name="adj"/>
            </a:avLst>
          </a:prstGeom>
          <a:solidFill>
            <a:srgbClr val="CCCCC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재난 정보 앱에 어떤 기능이 있을 것 같나요?</a:t>
            </a:r>
            <a:endParaRPr b="1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1" name="Google Shape;91;p15"/>
          <p:cNvSpPr/>
          <p:nvPr/>
        </p:nvSpPr>
        <p:spPr>
          <a:xfrm>
            <a:off x="7111825" y="929575"/>
            <a:ext cx="1858200" cy="4002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73763"/>
                </a:solidFill>
                <a:highlight>
                  <a:srgbClr val="FFFF00"/>
                </a:highlight>
                <a:latin typeface="Noto Sans KR"/>
                <a:ea typeface="Noto Sans KR"/>
                <a:cs typeface="Noto Sans KR"/>
                <a:sym typeface="Noto Sans KR"/>
              </a:rPr>
              <a:t>매뉴얼</a:t>
            </a:r>
            <a:r>
              <a:rPr b="1" lang="en">
                <a:solidFill>
                  <a:srgbClr val="073763"/>
                </a:solidFill>
                <a:latin typeface="Noto Sans KR"/>
                <a:ea typeface="Noto Sans KR"/>
                <a:cs typeface="Noto Sans KR"/>
                <a:sym typeface="Noto Sans KR"/>
              </a:rPr>
              <a:t>이 있을 것 같다</a:t>
            </a:r>
            <a:endParaRPr b="1">
              <a:solidFill>
                <a:srgbClr val="07376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3243900" y="1482175"/>
            <a:ext cx="3408300" cy="627300"/>
          </a:xfrm>
          <a:prstGeom prst="roundRect">
            <a:avLst>
              <a:gd fmla="val 16667" name="adj"/>
            </a:avLst>
          </a:prstGeom>
          <a:solidFill>
            <a:srgbClr val="CCCCC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재난 상황에서 재난 정보 앱이 어떤 역할을 하기를 기대하나요?</a:t>
            </a:r>
            <a:endParaRPr b="1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4477000" y="2261875"/>
            <a:ext cx="4493100" cy="4002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73763"/>
                </a:solidFill>
                <a:latin typeface="Noto Sans KR"/>
                <a:ea typeface="Noto Sans KR"/>
                <a:cs typeface="Noto Sans KR"/>
                <a:sym typeface="Noto Sans KR"/>
              </a:rPr>
              <a:t>현행화된 </a:t>
            </a:r>
            <a:r>
              <a:rPr b="1" lang="en">
                <a:solidFill>
                  <a:srgbClr val="073763"/>
                </a:solidFill>
                <a:highlight>
                  <a:srgbClr val="FFFF00"/>
                </a:highlight>
                <a:latin typeface="Noto Sans KR"/>
                <a:ea typeface="Noto Sans KR"/>
                <a:cs typeface="Noto Sans KR"/>
                <a:sym typeface="Noto Sans KR"/>
              </a:rPr>
              <a:t>매뉴얼</a:t>
            </a:r>
            <a:r>
              <a:rPr b="1" lang="en">
                <a:solidFill>
                  <a:srgbClr val="073763"/>
                </a:solidFill>
                <a:latin typeface="Noto Sans KR"/>
                <a:ea typeface="Noto Sans KR"/>
                <a:cs typeface="Noto Sans KR"/>
                <a:sym typeface="Noto Sans KR"/>
              </a:rPr>
              <a:t> (실제 현장에서 적용할 수 있는 정보 포함)</a:t>
            </a:r>
            <a:endParaRPr b="1">
              <a:solidFill>
                <a:srgbClr val="07376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4" name="Google Shape;94;p15"/>
          <p:cNvSpPr/>
          <p:nvPr/>
        </p:nvSpPr>
        <p:spPr>
          <a:xfrm>
            <a:off x="5015575" y="2814475"/>
            <a:ext cx="3954300" cy="400200"/>
          </a:xfrm>
          <a:prstGeom prst="roundRect">
            <a:avLst>
              <a:gd fmla="val 16667" name="adj"/>
            </a:avLst>
          </a:prstGeom>
          <a:solidFill>
            <a:srgbClr val="CCCCC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소통 기능. 서로 정보를 공유하거나 서로 돕는 기능.</a:t>
            </a:r>
            <a:endParaRPr b="1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5" name="Google Shape;95;p15"/>
          <p:cNvSpPr/>
          <p:nvPr/>
        </p:nvSpPr>
        <p:spPr>
          <a:xfrm>
            <a:off x="7789300" y="3346675"/>
            <a:ext cx="1180800" cy="400200"/>
          </a:xfrm>
          <a:prstGeom prst="roundRect">
            <a:avLst>
              <a:gd fmla="val 16667" name="adj"/>
            </a:avLst>
          </a:prstGeom>
          <a:solidFill>
            <a:srgbClr val="CCCCC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대피소 정보.</a:t>
            </a:r>
            <a:endParaRPr b="1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6" name="Google Shape;96;p15"/>
          <p:cNvSpPr/>
          <p:nvPr/>
        </p:nvSpPr>
        <p:spPr>
          <a:xfrm>
            <a:off x="4604925" y="3889050"/>
            <a:ext cx="4365000" cy="400200"/>
          </a:xfrm>
          <a:prstGeom prst="roundRect">
            <a:avLst>
              <a:gd fmla="val 16667" name="adj"/>
            </a:avLst>
          </a:prstGeom>
          <a:solidFill>
            <a:srgbClr val="CCCCC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인터넷이 대체로 안 될 때를 대비한 정보 저장과 출력 기능</a:t>
            </a:r>
            <a:endParaRPr b="1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6180275" y="4431425"/>
            <a:ext cx="2789700" cy="400200"/>
          </a:xfrm>
          <a:prstGeom prst="roundRect">
            <a:avLst>
              <a:gd fmla="val 16667" name="adj"/>
            </a:avLst>
          </a:prstGeom>
          <a:solidFill>
            <a:srgbClr val="CCCCC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지역별 상황을 반영한 실시간 정보.</a:t>
            </a:r>
            <a:endParaRPr b="1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/>
          <p:nvPr/>
        </p:nvSpPr>
        <p:spPr>
          <a:xfrm>
            <a:off x="-1206850" y="64650"/>
            <a:ext cx="1048800" cy="115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지난 밋앤핵 결과 공유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6월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재난 정보 서비스 현황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03" name="Google Shape;10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1647" y="491100"/>
            <a:ext cx="4672302" cy="261695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04" name="Google Shape;10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79386" y="1425084"/>
            <a:ext cx="4672296" cy="261476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05" name="Google Shape;10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37125" y="2306578"/>
            <a:ext cx="4672296" cy="2621497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6" name="Google Shape;106;p16"/>
          <p:cNvSpPr txBox="1"/>
          <p:nvPr/>
        </p:nvSpPr>
        <p:spPr>
          <a:xfrm>
            <a:off x="152400" y="152400"/>
            <a:ext cx="241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지난 밋앤핵 결과 | 6월</a:t>
            </a:r>
            <a:endParaRPr sz="10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304800" y="1890875"/>
            <a:ext cx="24123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안전디딤돌 앱 중심으로</a:t>
            </a:r>
            <a:endParaRPr b="1" sz="16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 lang="en" sz="16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매뉴얼 현황 분석 및 토론</a:t>
            </a:r>
            <a:endParaRPr b="1" sz="16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152400" y="491100"/>
            <a:ext cx="3339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0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매뉴얼</a:t>
            </a:r>
            <a:endParaRPr sz="9600">
              <a:solidFill>
                <a:srgbClr val="FFFF00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304800" y="4173700"/>
            <a:ext cx="2525700" cy="713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Noto Sans KR"/>
                <a:ea typeface="Noto Sans KR"/>
                <a:cs typeface="Noto Sans KR"/>
                <a:sym typeface="Noto Sans KR"/>
              </a:rPr>
              <a:t>결과 다시 보기</a:t>
            </a:r>
            <a:endParaRPr b="1" sz="10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https://www.mentimeter.com/app/presentation/n/al6htns9durs1w6b65ubc4jn2w3vp8d8/present</a:t>
            </a:r>
            <a:r>
              <a:rPr lang="en" sz="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8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/>
          <p:nvPr/>
        </p:nvSpPr>
        <p:spPr>
          <a:xfrm>
            <a:off x="-93400" y="-79025"/>
            <a:ext cx="9374700" cy="15015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7"/>
          <p:cNvSpPr/>
          <p:nvPr/>
        </p:nvSpPr>
        <p:spPr>
          <a:xfrm>
            <a:off x="-1206850" y="64650"/>
            <a:ext cx="1048800" cy="115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프로젝트 컨셉 공유(재난/사건이 아닌 사람이 중심인 서비스) 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16" name="Google Shape;116;p17"/>
          <p:cNvPicPr preferRelativeResize="0"/>
          <p:nvPr/>
        </p:nvPicPr>
        <p:blipFill rotWithShape="1">
          <a:blip r:embed="rId3">
            <a:alphaModFix/>
          </a:blip>
          <a:srcRect b="20717" l="14984" r="20321" t="37192"/>
          <a:stretch/>
        </p:blipFill>
        <p:spPr>
          <a:xfrm>
            <a:off x="4702566" y="2736795"/>
            <a:ext cx="4283410" cy="15637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7"/>
          <p:cNvPicPr preferRelativeResize="0"/>
          <p:nvPr/>
        </p:nvPicPr>
        <p:blipFill rotWithShape="1">
          <a:blip r:embed="rId4">
            <a:alphaModFix/>
          </a:blip>
          <a:srcRect b="9379" l="15889" r="21285" t="27760"/>
          <a:stretch/>
        </p:blipFill>
        <p:spPr>
          <a:xfrm>
            <a:off x="481300" y="2385500"/>
            <a:ext cx="4159351" cy="2333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7"/>
          <p:cNvSpPr txBox="1"/>
          <p:nvPr/>
        </p:nvSpPr>
        <p:spPr>
          <a:xfrm>
            <a:off x="152400" y="152400"/>
            <a:ext cx="241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 컨셉</a:t>
            </a:r>
            <a:endParaRPr sz="10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0" y="1891888"/>
            <a:ext cx="457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highlight>
                  <a:srgbClr val="FFFF00"/>
                </a:highlight>
                <a:latin typeface="Noto Sans KR"/>
                <a:ea typeface="Noto Sans KR"/>
                <a:cs typeface="Noto Sans KR"/>
                <a:sym typeface="Noto Sans KR"/>
              </a:rPr>
              <a:t>나</a:t>
            </a:r>
            <a:r>
              <a:rPr b="1" lang="en" sz="1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를 위해</a:t>
            </a:r>
            <a:endParaRPr b="1" sz="18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4572000" y="1891888"/>
            <a:ext cx="457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highlight>
                  <a:srgbClr val="FFFF00"/>
                </a:highlight>
                <a:latin typeface="Noto Sans KR"/>
                <a:ea typeface="Noto Sans KR"/>
                <a:cs typeface="Noto Sans KR"/>
                <a:sym typeface="Noto Sans KR"/>
              </a:rPr>
              <a:t>모두</a:t>
            </a:r>
            <a:r>
              <a:rPr b="1" lang="en" sz="1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를 위해</a:t>
            </a:r>
            <a:endParaRPr b="1" sz="18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0" y="491100"/>
            <a:ext cx="91440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8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무엇이 필요할까요</a:t>
            </a:r>
            <a:r>
              <a:rPr lang="en" sz="88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?</a:t>
            </a:r>
            <a:endParaRPr sz="8800">
              <a:solidFill>
                <a:schemeClr val="dk1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3907925" y="545950"/>
            <a:ext cx="114900" cy="114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7"/>
          <p:cNvSpPr/>
          <p:nvPr/>
        </p:nvSpPr>
        <p:spPr>
          <a:xfrm>
            <a:off x="4908000" y="545950"/>
            <a:ext cx="114900" cy="114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7"/>
          <p:cNvSpPr/>
          <p:nvPr/>
        </p:nvSpPr>
        <p:spPr>
          <a:xfrm>
            <a:off x="1783125" y="545950"/>
            <a:ext cx="114900" cy="114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7"/>
          <p:cNvSpPr/>
          <p:nvPr/>
        </p:nvSpPr>
        <p:spPr>
          <a:xfrm>
            <a:off x="865158" y="545950"/>
            <a:ext cx="114900" cy="114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/>
          <p:nvPr/>
        </p:nvSpPr>
        <p:spPr>
          <a:xfrm>
            <a:off x="-93400" y="-79025"/>
            <a:ext cx="9374700" cy="15015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8"/>
          <p:cNvSpPr txBox="1"/>
          <p:nvPr/>
        </p:nvSpPr>
        <p:spPr>
          <a:xfrm>
            <a:off x="0" y="491100"/>
            <a:ext cx="91440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8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 사건이 중심인 </a:t>
            </a:r>
            <a:endParaRPr sz="8800">
              <a:solidFill>
                <a:schemeClr val="dk1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8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 재난 대응 서비스 </a:t>
            </a:r>
            <a:endParaRPr sz="8800">
              <a:solidFill>
                <a:schemeClr val="dk1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-1206850" y="64650"/>
            <a:ext cx="1048800" cy="115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프로젝트 컨셉 공유(재난/사건이 아닌 사람이 중심인 서비스) 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33" name="Google Shape;133;p18"/>
          <p:cNvSpPr txBox="1"/>
          <p:nvPr/>
        </p:nvSpPr>
        <p:spPr>
          <a:xfrm>
            <a:off x="152400" y="152400"/>
            <a:ext cx="241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 컨셉</a:t>
            </a:r>
            <a:endParaRPr sz="10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34" name="Google Shape;13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3625" y="3331200"/>
            <a:ext cx="1613676" cy="1613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1750" y="3132575"/>
            <a:ext cx="5560827" cy="201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8"/>
          <p:cNvPicPr preferRelativeResize="0"/>
          <p:nvPr/>
        </p:nvPicPr>
        <p:blipFill rotWithShape="1">
          <a:blip r:embed="rId5">
            <a:alphaModFix/>
          </a:blip>
          <a:srcRect b="0" l="35843" r="36474" t="51423"/>
          <a:stretch/>
        </p:blipFill>
        <p:spPr>
          <a:xfrm flipH="1">
            <a:off x="1597775" y="3331200"/>
            <a:ext cx="1202539" cy="161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-268575" y="3294325"/>
            <a:ext cx="2242400" cy="168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9"/>
          <p:cNvSpPr/>
          <p:nvPr/>
        </p:nvSpPr>
        <p:spPr>
          <a:xfrm>
            <a:off x="-93400" y="-79025"/>
            <a:ext cx="9374700" cy="15015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9"/>
          <p:cNvSpPr txBox="1"/>
          <p:nvPr/>
        </p:nvSpPr>
        <p:spPr>
          <a:xfrm>
            <a:off x="0" y="491100"/>
            <a:ext cx="91440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8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 </a:t>
            </a:r>
            <a:r>
              <a:rPr lang="en" sz="8800">
                <a:solidFill>
                  <a:srgbClr val="999999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사건</a:t>
            </a:r>
            <a:r>
              <a:rPr lang="en" sz="88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이 중심인 </a:t>
            </a:r>
            <a:endParaRPr sz="8800">
              <a:solidFill>
                <a:schemeClr val="dk1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800">
                <a:solidFill>
                  <a:schemeClr val="dk1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 재난 대응 서비스 </a:t>
            </a:r>
            <a:endParaRPr sz="8800">
              <a:solidFill>
                <a:schemeClr val="dk1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-1206850" y="64650"/>
            <a:ext cx="1048800" cy="115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프로젝트 컨셉 공유(재난/사건이 아닌 사람이 중심인 서비스) 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45" name="Google Shape;145;p19"/>
          <p:cNvSpPr txBox="1"/>
          <p:nvPr/>
        </p:nvSpPr>
        <p:spPr>
          <a:xfrm>
            <a:off x="152400" y="152400"/>
            <a:ext cx="241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 컨셉</a:t>
            </a:r>
            <a:endParaRPr sz="10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6" name="Google Shape;146;p19"/>
          <p:cNvSpPr txBox="1"/>
          <p:nvPr/>
        </p:nvSpPr>
        <p:spPr>
          <a:xfrm>
            <a:off x="366375" y="491100"/>
            <a:ext cx="2313300" cy="1862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900">
                <a:solidFill>
                  <a:srgbClr val="FF0000"/>
                </a:solidFill>
                <a:latin typeface="Nanum Pen Script"/>
                <a:ea typeface="Nanum Pen Script"/>
                <a:cs typeface="Nanum Pen Script"/>
                <a:sym typeface="Nanum Pen Script"/>
              </a:rPr>
              <a:t>사람</a:t>
            </a:r>
            <a:endParaRPr b="1" sz="3500">
              <a:solidFill>
                <a:srgbClr val="FF0000"/>
              </a:solidFill>
              <a:latin typeface="Nanum Pen Script"/>
              <a:ea typeface="Nanum Pen Script"/>
              <a:cs typeface="Nanum Pen Script"/>
              <a:sym typeface="Nanum Pen Script"/>
            </a:endParaRPr>
          </a:p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3625" y="3331200"/>
            <a:ext cx="1613676" cy="1613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1750" y="3132575"/>
            <a:ext cx="5560827" cy="201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9"/>
          <p:cNvPicPr preferRelativeResize="0"/>
          <p:nvPr/>
        </p:nvPicPr>
        <p:blipFill rotWithShape="1">
          <a:blip r:embed="rId5">
            <a:alphaModFix/>
          </a:blip>
          <a:srcRect b="0" l="35843" r="36474" t="51423"/>
          <a:stretch/>
        </p:blipFill>
        <p:spPr>
          <a:xfrm flipH="1">
            <a:off x="1597775" y="3331200"/>
            <a:ext cx="1202539" cy="161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-268575" y="3294325"/>
            <a:ext cx="2242400" cy="168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/>
          <p:nvPr/>
        </p:nvSpPr>
        <p:spPr>
          <a:xfrm>
            <a:off x="-1206850" y="64650"/>
            <a:ext cx="1048800" cy="115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활동 소개: 공공데이터 평가 작업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56" name="Google Shape;156;p20"/>
          <p:cNvSpPr txBox="1"/>
          <p:nvPr/>
        </p:nvSpPr>
        <p:spPr>
          <a:xfrm>
            <a:off x="152400" y="152400"/>
            <a:ext cx="241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오늘 활동 소개</a:t>
            </a:r>
            <a:endParaRPr sz="10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7" name="Google Shape;157;p20"/>
          <p:cNvSpPr txBox="1"/>
          <p:nvPr/>
        </p:nvSpPr>
        <p:spPr>
          <a:xfrm>
            <a:off x="304800" y="1890875"/>
            <a:ext cx="2753100" cy="14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공공데이터포털</a:t>
            </a:r>
            <a:endParaRPr b="1" sz="16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EFEFEF"/>
                </a:solidFill>
                <a:uFill>
                  <a:noFill/>
                </a:uFill>
                <a:latin typeface="Noto Sans KR"/>
                <a:ea typeface="Noto Sans KR"/>
                <a:cs typeface="Noto Sans KR"/>
                <a:sym typeface="Noto Sans K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</a:t>
            </a:r>
            <a:r>
              <a:rPr b="1" lang="en" sz="16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www.</a:t>
            </a:r>
            <a:r>
              <a:rPr b="1" lang="en" sz="16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data.go.kr/</a:t>
            </a:r>
            <a:endParaRPr b="1" sz="16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 lang="en" sz="16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약 3천여 건의 데이터 공개</a:t>
            </a:r>
            <a:endParaRPr b="1" sz="16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8" name="Google Shape;158;p20"/>
          <p:cNvSpPr txBox="1"/>
          <p:nvPr/>
        </p:nvSpPr>
        <p:spPr>
          <a:xfrm>
            <a:off x="152400" y="491100"/>
            <a:ext cx="34221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0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데이터</a:t>
            </a:r>
            <a:endParaRPr sz="9600">
              <a:solidFill>
                <a:srgbClr val="FFFF00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pic>
        <p:nvPicPr>
          <p:cNvPr id="159" name="Google Shape;15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53975" y="152400"/>
            <a:ext cx="5264699" cy="3557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/>
          <p:cNvSpPr/>
          <p:nvPr/>
        </p:nvSpPr>
        <p:spPr>
          <a:xfrm>
            <a:off x="-1206850" y="64650"/>
            <a:ext cx="1048800" cy="115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활동 소개: 공공데이터 평가 작업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5" name="Google Shape;165;p21"/>
          <p:cNvSpPr txBox="1"/>
          <p:nvPr/>
        </p:nvSpPr>
        <p:spPr>
          <a:xfrm>
            <a:off x="152400" y="152400"/>
            <a:ext cx="241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오늘 활동 소개</a:t>
            </a:r>
            <a:endParaRPr sz="10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6" name="Google Shape;166;p21"/>
          <p:cNvSpPr txBox="1"/>
          <p:nvPr/>
        </p:nvSpPr>
        <p:spPr>
          <a:xfrm>
            <a:off x="304800" y="1890875"/>
            <a:ext cx="32697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재난안전데이터공유플랫폼</a:t>
            </a:r>
            <a:endParaRPr b="1" sz="16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 lang="en" sz="1600">
                <a:solidFill>
                  <a:srgbClr val="EFEFEF"/>
                </a:solidFill>
                <a:uFill>
                  <a:noFill/>
                </a:uFill>
                <a:latin typeface="Noto Sans KR"/>
                <a:ea typeface="Noto Sans KR"/>
                <a:cs typeface="Noto Sans KR"/>
                <a:sym typeface="Noto Sans K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https://www.safetydata.go.kr/</a:t>
            </a:r>
            <a:endParaRPr b="1" sz="16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7" name="Google Shape;167;p21"/>
          <p:cNvSpPr txBox="1"/>
          <p:nvPr/>
        </p:nvSpPr>
        <p:spPr>
          <a:xfrm>
            <a:off x="152400" y="491100"/>
            <a:ext cx="34221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0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데이터</a:t>
            </a:r>
            <a:endParaRPr sz="9600">
              <a:solidFill>
                <a:srgbClr val="FFFF00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pic>
        <p:nvPicPr>
          <p:cNvPr id="168" name="Google Shape;16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26900" y="391225"/>
            <a:ext cx="5264702" cy="29229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"/>
          <p:cNvSpPr/>
          <p:nvPr/>
        </p:nvSpPr>
        <p:spPr>
          <a:xfrm>
            <a:off x="-1206850" y="64650"/>
            <a:ext cx="1048800" cy="115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활동 소개: 공공데이터 평가 작업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4" name="Google Shape;174;p22"/>
          <p:cNvSpPr txBox="1"/>
          <p:nvPr/>
        </p:nvSpPr>
        <p:spPr>
          <a:xfrm>
            <a:off x="152400" y="152400"/>
            <a:ext cx="241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오늘 활동 소개</a:t>
            </a:r>
            <a:endParaRPr sz="10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5" name="Google Shape;175;p22"/>
          <p:cNvSpPr txBox="1"/>
          <p:nvPr/>
        </p:nvSpPr>
        <p:spPr>
          <a:xfrm>
            <a:off x="304800" y="1890875"/>
            <a:ext cx="32697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오늘의 공동작업</a:t>
            </a:r>
            <a:endParaRPr b="1" sz="16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Noto Sans KR"/>
              <a:buChar char="●"/>
            </a:pPr>
            <a:r>
              <a:rPr b="1" lang="en" sz="16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재난안전 공공데이터 품질 평가</a:t>
            </a:r>
            <a:endParaRPr b="1" sz="16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Noto Sans KR"/>
              <a:buChar char="●"/>
            </a:pPr>
            <a:r>
              <a:rPr b="1" lang="en" sz="16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공공데이터 수요자 분류</a:t>
            </a:r>
            <a:endParaRPr b="1" sz="16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 lang="en" sz="16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https://bit.ly/c4k-ansimi-2409</a:t>
            </a:r>
            <a:endParaRPr b="1" sz="16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6" name="Google Shape;176;p22"/>
          <p:cNvSpPr txBox="1"/>
          <p:nvPr/>
        </p:nvSpPr>
        <p:spPr>
          <a:xfrm>
            <a:off x="152400" y="491100"/>
            <a:ext cx="42576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0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작업시트</a:t>
            </a:r>
            <a:endParaRPr sz="9600">
              <a:solidFill>
                <a:srgbClr val="FFFF00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pic>
        <p:nvPicPr>
          <p:cNvPr id="177" name="Google Shape;17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3352" y="1890875"/>
            <a:ext cx="5519124" cy="3171874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2"/>
          <p:cNvSpPr txBox="1"/>
          <p:nvPr/>
        </p:nvSpPr>
        <p:spPr>
          <a:xfrm>
            <a:off x="4720447" y="553375"/>
            <a:ext cx="4405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ADADAD"/>
                </a:solidFill>
                <a:latin typeface="Gothic A1"/>
                <a:ea typeface="Gothic A1"/>
                <a:cs typeface="Gothic A1"/>
                <a:sym typeface="Gothic A1"/>
              </a:rPr>
              <a:t>Wifi: KT_GiGA_5G_C747 </a:t>
            </a:r>
            <a:endParaRPr sz="2800">
              <a:solidFill>
                <a:srgbClr val="ADADAD"/>
              </a:solidFill>
              <a:latin typeface="Gothic A1"/>
              <a:ea typeface="Gothic A1"/>
              <a:cs typeface="Gothic A1"/>
              <a:sym typeface="Gothic A1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ADADAD"/>
                </a:solidFill>
                <a:latin typeface="Gothic A1"/>
                <a:ea typeface="Gothic A1"/>
                <a:cs typeface="Gothic A1"/>
                <a:sym typeface="Gothic A1"/>
              </a:rPr>
              <a:t>PW: fz01zz4101</a:t>
            </a:r>
            <a:endParaRPr sz="2800">
              <a:solidFill>
                <a:srgbClr val="ADADAD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3"/>
          <p:cNvSpPr/>
          <p:nvPr/>
        </p:nvSpPr>
        <p:spPr>
          <a:xfrm>
            <a:off x="-1206850" y="64650"/>
            <a:ext cx="1048800" cy="115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활동 소개: 공공데이터 평가 가이드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4" name="Google Shape;184;p23"/>
          <p:cNvSpPr txBox="1"/>
          <p:nvPr/>
        </p:nvSpPr>
        <p:spPr>
          <a:xfrm>
            <a:off x="152400" y="152400"/>
            <a:ext cx="241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오늘 활동 소개</a:t>
            </a:r>
            <a:endParaRPr sz="10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5" name="Google Shape;185;p23"/>
          <p:cNvSpPr txBox="1"/>
          <p:nvPr/>
        </p:nvSpPr>
        <p:spPr>
          <a:xfrm>
            <a:off x="152400" y="491100"/>
            <a:ext cx="5812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0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평가 가이드</a:t>
            </a:r>
            <a:endParaRPr sz="9600">
              <a:solidFill>
                <a:srgbClr val="FFFF00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186" name="Google Shape;186;p23"/>
          <p:cNvSpPr txBox="1"/>
          <p:nvPr/>
        </p:nvSpPr>
        <p:spPr>
          <a:xfrm>
            <a:off x="304800" y="1890875"/>
            <a:ext cx="50637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Noto Sans KR"/>
              <a:buChar char="●"/>
            </a:pPr>
            <a:r>
              <a:rPr b="1" lang="en" sz="16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잘못된 값이 나옴	</a:t>
            </a:r>
            <a:endParaRPr b="1" sz="16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Noto Sans KR"/>
              <a:buChar char="●"/>
            </a:pPr>
            <a:r>
              <a:rPr b="1" lang="en" sz="16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최신 데이터가 없음	</a:t>
            </a:r>
            <a:endParaRPr b="1" sz="16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Noto Sans KR"/>
              <a:buChar char="●"/>
            </a:pPr>
            <a:r>
              <a:rPr b="1" lang="en" sz="16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제공주기 개선 필요	</a:t>
            </a:r>
            <a:endParaRPr b="1" sz="16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Noto Sans KR"/>
              <a:buChar char="●"/>
            </a:pPr>
            <a:r>
              <a:rPr b="1" lang="en" sz="16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더 좁은 범위 데이터가 필요	</a:t>
            </a:r>
            <a:endParaRPr b="1" sz="16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Noto Sans KR"/>
              <a:buChar char="●"/>
            </a:pPr>
            <a:r>
              <a:rPr b="1" lang="en" sz="16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항목 보완 필요</a:t>
            </a:r>
            <a:endParaRPr b="1" sz="16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Noto Sans KR"/>
              <a:buChar char="●"/>
            </a:pPr>
            <a:r>
              <a:rPr b="1" lang="en" sz="16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새로운 평가요소가 있다면, 시트에 추가해 주세요!</a:t>
            </a:r>
            <a:endParaRPr b="1" sz="16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4"/>
          <p:cNvSpPr/>
          <p:nvPr/>
        </p:nvSpPr>
        <p:spPr>
          <a:xfrm>
            <a:off x="-1206850" y="64650"/>
            <a:ext cx="1048800" cy="115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활동 소개: 공공데이터 평가 가이드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2" name="Google Shape;192;p24"/>
          <p:cNvSpPr txBox="1"/>
          <p:nvPr/>
        </p:nvSpPr>
        <p:spPr>
          <a:xfrm>
            <a:off x="152400" y="152400"/>
            <a:ext cx="241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오늘 활동 소개</a:t>
            </a:r>
            <a:endParaRPr sz="10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3" name="Google Shape;193;p24"/>
          <p:cNvSpPr txBox="1"/>
          <p:nvPr/>
        </p:nvSpPr>
        <p:spPr>
          <a:xfrm>
            <a:off x="152400" y="491100"/>
            <a:ext cx="5812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0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수요자 분류</a:t>
            </a:r>
            <a:endParaRPr sz="9600">
              <a:solidFill>
                <a:srgbClr val="FFFF00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194" name="Google Shape;194;p24"/>
          <p:cNvSpPr txBox="1"/>
          <p:nvPr/>
        </p:nvSpPr>
        <p:spPr>
          <a:xfrm>
            <a:off x="304800" y="1890875"/>
            <a:ext cx="5063700" cy="24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Noto Sans KR"/>
              <a:buChar char="●"/>
            </a:pPr>
            <a:r>
              <a:rPr b="1" lang="en" sz="16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외국인</a:t>
            </a:r>
            <a:endParaRPr b="1" sz="16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Noto Sans KR"/>
              <a:buChar char="●"/>
            </a:pPr>
            <a:r>
              <a:rPr b="1" lang="en" sz="16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장애인</a:t>
            </a:r>
            <a:endParaRPr b="1" sz="16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Noto Sans KR"/>
              <a:buChar char="●"/>
            </a:pPr>
            <a:r>
              <a:rPr b="1" lang="en" sz="16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영유아 동반자</a:t>
            </a:r>
            <a:endParaRPr b="1" sz="16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Noto Sans KR"/>
              <a:buChar char="●"/>
            </a:pPr>
            <a:r>
              <a:rPr b="1" lang="en" sz="16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당뇨 등 지병이 있는 환자</a:t>
            </a:r>
            <a:endParaRPr b="1" sz="16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Noto Sans KR"/>
              <a:buChar char="●"/>
            </a:pPr>
            <a:r>
              <a:rPr b="1" lang="en" sz="16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누구에게 도움이 될 수 있는 데이터인지 알려 주세요</a:t>
            </a:r>
            <a:endParaRPr b="1" sz="16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5"/>
          <p:cNvSpPr/>
          <p:nvPr/>
        </p:nvSpPr>
        <p:spPr>
          <a:xfrm>
            <a:off x="-1206850" y="64650"/>
            <a:ext cx="1048800" cy="115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활동 소개: 공공데이터 평가 가이드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0" name="Google Shape;200;p25"/>
          <p:cNvSpPr txBox="1"/>
          <p:nvPr/>
        </p:nvSpPr>
        <p:spPr>
          <a:xfrm>
            <a:off x="152400" y="152400"/>
            <a:ext cx="241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오늘 활동 소개</a:t>
            </a:r>
            <a:endParaRPr sz="10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1" name="Google Shape;201;p25"/>
          <p:cNvSpPr txBox="1"/>
          <p:nvPr/>
        </p:nvSpPr>
        <p:spPr>
          <a:xfrm>
            <a:off x="152400" y="491100"/>
            <a:ext cx="5812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00"/>
                </a:solidFill>
                <a:latin typeface="Black Han Sans"/>
                <a:ea typeface="Black Han Sans"/>
                <a:cs typeface="Black Han Sans"/>
                <a:sym typeface="Black Han Sans"/>
              </a:rPr>
              <a:t>팀원 모집!</a:t>
            </a:r>
            <a:endParaRPr sz="9600">
              <a:solidFill>
                <a:srgbClr val="FFFF00"/>
              </a:solidFill>
              <a:latin typeface="Black Han Sans"/>
              <a:ea typeface="Black Han Sans"/>
              <a:cs typeface="Black Han Sans"/>
              <a:sym typeface="Black Han Sans"/>
            </a:endParaRPr>
          </a:p>
        </p:txBody>
      </p:sp>
      <p:sp>
        <p:nvSpPr>
          <p:cNvPr id="202" name="Google Shape;202;p25"/>
          <p:cNvSpPr txBox="1"/>
          <p:nvPr/>
        </p:nvSpPr>
        <p:spPr>
          <a:xfrm>
            <a:off x="304800" y="1890875"/>
            <a:ext cx="56100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Noto Sans KR"/>
              <a:buChar char="●"/>
            </a:pPr>
            <a:r>
              <a:rPr b="1" lang="en" sz="16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안심이 프로젝트의 1기 팀원이 되어 주세요!</a:t>
            </a:r>
            <a:endParaRPr b="1" sz="16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Noto Sans KR"/>
              <a:buChar char="●"/>
            </a:pPr>
            <a:r>
              <a:rPr b="1" lang="en" sz="16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활동 기간: 2024년 9월 ~ 12월</a:t>
            </a:r>
            <a:endParaRPr b="1" sz="16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Font typeface="Noto Sans KR"/>
              <a:buChar char="●"/>
            </a:pPr>
            <a:r>
              <a:rPr b="1" lang="en" sz="1600">
                <a:solidFill>
                  <a:srgbClr val="EFEFEF"/>
                </a:solidFill>
                <a:latin typeface="Noto Sans KR"/>
                <a:ea typeface="Noto Sans KR"/>
                <a:cs typeface="Noto Sans KR"/>
                <a:sym typeface="Noto Sans KR"/>
              </a:rPr>
              <a:t>활동 목표: 서비스 기획, 데이터 수집 및 개발 계획 수립</a:t>
            </a:r>
            <a:endParaRPr b="1" sz="1600">
              <a:solidFill>
                <a:srgbClr val="EFEFE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